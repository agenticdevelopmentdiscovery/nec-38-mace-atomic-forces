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500000"/>
                </a:solidFill>
              </a:rPr>
              <a:t>Relative compute vs. number of atoms</a:t>
            </a:r>
          </a:p>
        </c:rich>
      </c:tx>
      <c:layout/>
      <c:overlay val="0"/>
    </c:title>
    <c:autoTitleDeleted val="0"/>
    <c:plotArea>
      <c:lineChart>
        <c:grouping val="standard"/>
        <c:varyColors val="0"/>
        <c:ser>
          <c:idx val="0"/>
          <c:order val="0"/>
          <c:tx>
            <c:strRef>
              <c:f>Sheet1!$B$1</c:f>
              <c:strCache>
                <c:ptCount val="1"/>
                <c:pt idx="0">
                  <c:v>DFT  ∝ N³</c:v>
                </c:pt>
              </c:strCache>
            </c:strRef>
          </c:tx>
          <c:spPr>
            <a:ln w="34925">
              <a:solidFill>
                <a:srgbClr val="1E293B"/>
              </a:solidFill>
            </a:ln>
          </c:spPr>
          <c:marker>
            <c:symbol val="circle"/>
            <c:size val="7"/>
            <c:spPr>
              <a:solidFill>
                <a:srgbClr val="1E293B"/>
              </a:solidFill>
              <a:ln>
                <a:solidFill>
                  <a:srgbClr val="FFFFFF"/>
                </a:solidFill>
              </a:ln>
            </c:spPr>
          </c:marker>
          <c:cat>
            <c:strRef>
              <c:f>Sheet1!$A$2:$A$5</c:f>
              <c:strCache>
                <c:ptCount val="4"/>
                <c:pt idx="0">
                  <c:v>10</c:v>
                </c:pt>
                <c:pt idx="1">
                  <c:v>100</c:v>
                </c:pt>
                <c:pt idx="2">
                  <c:v>1,000</c:v>
                </c:pt>
                <c:pt idx="3">
                  <c:v>10,000</c:v>
                </c:pt>
              </c:strCache>
            </c:strRef>
          </c:cat>
          <c:val>
            <c:numRef>
              <c:f>Sheet1!$B$2:$B$5</c:f>
              <c:numCache>
                <c:formatCode>General</c:formatCode>
                <c:ptCount val="4"/>
                <c:pt idx="0">
                  <c:v>1000.0</c:v>
                </c:pt>
                <c:pt idx="1">
                  <c:v>1000000.0</c:v>
                </c:pt>
                <c:pt idx="2">
                  <c:v>1000000000.0</c:v>
                </c:pt>
                <c:pt idx="3">
                  <c:v>1000000000000.0</c:v>
                </c:pt>
              </c:numCache>
            </c:numRef>
          </c:val>
          <c:smooth val="0"/>
        </c:ser>
        <c:ser>
          <c:idx val="1"/>
          <c:order val="1"/>
          <c:tx>
            <c:strRef>
              <c:f>Sheet1!$C$1</c:f>
              <c:strCache>
                <c:ptCount val="1"/>
                <c:pt idx="0">
                  <c:v>MACE  ∝ N</c:v>
                </c:pt>
              </c:strCache>
            </c:strRef>
          </c:tx>
          <c:spPr>
            <a:ln w="34925">
              <a:solidFill>
                <a:srgbClr val="500000"/>
              </a:solidFill>
            </a:ln>
          </c:spPr>
          <c:marker>
            <c:symbol val="circle"/>
            <c:size val="7"/>
            <c:spPr>
              <a:solidFill>
                <a:srgbClr val="500000"/>
              </a:solidFill>
              <a:ln>
                <a:solidFill>
                  <a:srgbClr val="FFFFFF"/>
                </a:solidFill>
              </a:ln>
            </c:spPr>
          </c:marker>
          <c:cat>
            <c:strRef>
              <c:f>Sheet1!$A$2:$A$5</c:f>
              <c:strCache>
                <c:ptCount val="4"/>
                <c:pt idx="0">
                  <c:v>10</c:v>
                </c:pt>
                <c:pt idx="1">
                  <c:v>100</c:v>
                </c:pt>
                <c:pt idx="2">
                  <c:v>1,000</c:v>
                </c:pt>
                <c:pt idx="3">
                  <c:v>10,000</c:v>
                </c:pt>
              </c:strCache>
            </c:strRef>
          </c:cat>
          <c:val>
            <c:numRef>
              <c:f>Sheet1!$C$2:$C$5</c:f>
              <c:numCache>
                <c:formatCode>General</c:formatCode>
                <c:ptCount val="4"/>
                <c:pt idx="0">
                  <c:v>1</c:v>
                </c:pt>
                <c:pt idx="1">
                  <c:v>10</c:v>
                </c:pt>
                <c:pt idx="2">
                  <c:v>100</c:v>
                </c:pt>
                <c:pt idx="3">
                  <c:v>1000</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64748B"/>
                    </a:solidFill>
                  </a:rPr>
                  <a:t>atoms in the simulation</a:t>
                </a:r>
              </a:p>
            </c:rich>
          </c:tx>
          <c:layout/>
          <c:overlay val="0"/>
        </c:title>
        <c:majorTickMark val="out"/>
        <c:minorTickMark val="none"/>
        <c:tickLblPos val="nextTo"/>
        <c:spPr>
          <a:ln>
            <a:solidFill>
              <a:srgbClr val="94A3B8"/>
            </a:solidFill>
          </a:ln>
        </c:spPr>
        <c:txPr>
          <a:bodyPr/>
          <a:lstStyle/>
          <a:p>
            <a:pPr>
              <a:defRPr sz="1100"/>
            </a:pPr>
          </a:p>
        </c:txPr>
        <c:crossAx val="2140495176"/>
        <c:crosses val="autoZero"/>
        <c:auto val="1"/>
        <c:lblAlgn val="ctr"/>
        <c:lblOffset val="100"/>
        <c:noMultiLvlLbl val="0"/>
      </c:catAx>
      <c:valAx>
        <c:axId val="2140495176"/>
        <c:scaling>
          <c:logBase val="10"/>
        </c:scaling>
        <c:delete val="0"/>
        <c:axPos val="l"/>
        <c:majorGridlines>
          <c:spPr>
            <a:ln>
              <a:solidFill>
                <a:srgbClr val="E2E8F0"/>
              </a:solidFill>
            </a:ln>
          </c:spPr>
        </c:majorGridlines>
        <c:title>
          <c:tx>
            <c:rich>
              <a:bodyPr/>
              <a:lstStyle/>
              <a:p>
                <a:r>
                  <a:rPr sz="1100" b="0">
                    <a:solidFill>
                      <a:srgbClr val="64748B"/>
                    </a:solidFill>
                  </a:rPr>
                  <a:t>relative cost (log)</a:t>
                </a:r>
              </a:p>
            </c:rich>
          </c:tx>
          <c:layout/>
          <c:overlay val="0"/>
        </c:title>
        <c:numFmt formatCode="0E+0" sourceLinked="0"/>
        <c:majorTickMark val="out"/>
        <c:minorTickMark val="none"/>
        <c:tickLblPos val="nextTo"/>
        <c:spPr>
          <a:ln>
            <a:no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500000"/>
                </a:solidFill>
              </a:rPr>
              <a:t>Blind GA: +18   ·   agent's L1₀: −18 meV/atom</a:t>
            </a:r>
          </a:p>
        </c:rich>
      </c:tx>
      <c:layout/>
      <c:overlay val="0"/>
    </c:title>
    <c:autoTitleDeleted val="0"/>
    <c:plotArea>
      <c:lineChart>
        <c:grouping val="standard"/>
        <c:varyColors val="0"/>
        <c:ser>
          <c:idx val="0"/>
          <c:order val="0"/>
          <c:tx>
            <c:strRef>
              <c:f>Sheet1!$B$1</c:f>
              <c:strCache>
                <c:ptCount val="1"/>
                <c:pt idx="0">
                  <c:v>population mean</c:v>
                </c:pt>
              </c:strCache>
            </c:strRef>
          </c:tx>
          <c:spPr>
            <a:ln w="25400">
              <a:solidFill>
                <a:srgbClr val="E3C4C4"/>
              </a:solidFill>
            </a:ln>
          </c:spPr>
          <c:marker>
            <c:symbol val="circle"/>
            <c:size val="5"/>
            <c:spPr>
              <a:solidFill>
                <a:srgbClr val="E3C4C4"/>
              </a:solidFill>
              <a:ln>
                <a:solidFill>
                  <a:srgbClr val="FFFFFF"/>
                </a:solidFill>
              </a:ln>
            </c:spPr>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Sheet1!$B$2:$B$17</c:f>
              <c:numCache>
                <c:formatCode>General</c:formatCode>
                <c:ptCount val="16"/>
                <c:pt idx="0">
                  <c:v>80.4</c:v>
                </c:pt>
                <c:pt idx="1">
                  <c:v>70.1</c:v>
                </c:pt>
                <c:pt idx="2">
                  <c:v>57.3</c:v>
                </c:pt>
                <c:pt idx="3">
                  <c:v>59.5</c:v>
                </c:pt>
                <c:pt idx="4">
                  <c:v>56.6</c:v>
                </c:pt>
                <c:pt idx="5">
                  <c:v>50.1</c:v>
                </c:pt>
                <c:pt idx="6">
                  <c:v>43.9</c:v>
                </c:pt>
                <c:pt idx="7">
                  <c:v>44.5</c:v>
                </c:pt>
                <c:pt idx="8">
                  <c:v>50.6</c:v>
                </c:pt>
                <c:pt idx="9">
                  <c:v>55.3</c:v>
                </c:pt>
                <c:pt idx="10">
                  <c:v>52.7</c:v>
                </c:pt>
                <c:pt idx="11">
                  <c:v>50.6</c:v>
                </c:pt>
                <c:pt idx="12">
                  <c:v>45.2</c:v>
                </c:pt>
                <c:pt idx="13">
                  <c:v>39.5</c:v>
                </c:pt>
                <c:pt idx="14">
                  <c:v>47.1</c:v>
                </c:pt>
                <c:pt idx="15">
                  <c:v>45.4</c:v>
                </c:pt>
              </c:numCache>
            </c:numRef>
          </c:val>
          <c:smooth val="0"/>
        </c:ser>
        <c:ser>
          <c:idx val="1"/>
          <c:order val="1"/>
          <c:tx>
            <c:strRef>
              <c:f>Sheet1!$C$1</c:f>
              <c:strCache>
                <c:ptCount val="1"/>
                <c:pt idx="0">
                  <c:v>GA best</c:v>
                </c:pt>
              </c:strCache>
            </c:strRef>
          </c:tx>
          <c:spPr>
            <a:ln w="34925">
              <a:solidFill>
                <a:srgbClr val="500000"/>
              </a:solidFill>
            </a:ln>
          </c:spPr>
          <c:marker>
            <c:symbol val="circle"/>
            <c:size val="7"/>
            <c:spPr>
              <a:solidFill>
                <a:srgbClr val="500000"/>
              </a:solidFill>
              <a:ln>
                <a:solidFill>
                  <a:srgbClr val="FFFFFF"/>
                </a:solidFill>
              </a:ln>
            </c:spPr>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Sheet1!$C$2:$C$17</c:f>
              <c:numCache>
                <c:formatCode>General</c:formatCode>
                <c:ptCount val="16"/>
                <c:pt idx="0">
                  <c:v>52.0</c:v>
                </c:pt>
                <c:pt idx="1">
                  <c:v>35.8</c:v>
                </c:pt>
                <c:pt idx="2">
                  <c:v>35.8</c:v>
                </c:pt>
                <c:pt idx="3">
                  <c:v>21.9</c:v>
                </c:pt>
                <c:pt idx="4">
                  <c:v>21.9</c:v>
                </c:pt>
                <c:pt idx="5">
                  <c:v>21.9</c:v>
                </c:pt>
                <c:pt idx="6">
                  <c:v>21.9</c:v>
                </c:pt>
                <c:pt idx="7">
                  <c:v>21.9</c:v>
                </c:pt>
                <c:pt idx="8">
                  <c:v>21.9</c:v>
                </c:pt>
                <c:pt idx="9">
                  <c:v>21.9</c:v>
                </c:pt>
                <c:pt idx="10">
                  <c:v>18.9</c:v>
                </c:pt>
                <c:pt idx="11">
                  <c:v>18.6</c:v>
                </c:pt>
                <c:pt idx="12">
                  <c:v>18.6</c:v>
                </c:pt>
                <c:pt idx="13">
                  <c:v>18.6</c:v>
                </c:pt>
                <c:pt idx="14">
                  <c:v>18.6</c:v>
                </c:pt>
                <c:pt idx="15">
                  <c:v>18.4</c:v>
                </c:pt>
              </c:numCache>
            </c:numRef>
          </c:val>
          <c:smooth val="0"/>
        </c:ser>
        <c:ser>
          <c:idx val="2"/>
          <c:order val="2"/>
          <c:tx>
            <c:strRef>
              <c:f>Sheet1!$D$1</c:f>
              <c:strCache>
                <c:ptCount val="1"/>
                <c:pt idx="0">
                  <c:v>L1₀ (agent's proposal)</c:v>
                </c:pt>
              </c:strCache>
            </c:strRef>
          </c:tx>
          <c:spPr>
            <a:ln w="28575">
              <a:solidFill>
                <a:srgbClr val="1E293B"/>
              </a:solidFill>
              <a:prstDash val="dash"/>
            </a:ln>
          </c:spPr>
          <c:marker>
            <c:symbol val="none"/>
          </c:marker>
          <c:cat>
            <c:strRef>
              <c:f>Sheet1!$A$2:$A$17</c:f>
              <c:strCach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strCache>
            </c:strRef>
          </c:cat>
          <c:val>
            <c:numRef>
              <c:f>Sheet1!$D$2:$D$17</c:f>
              <c:numCache>
                <c:formatCode>General</c:formatCode>
                <c:ptCount val="16"/>
                <c:pt idx="0">
                  <c:v>-17.9</c:v>
                </c:pt>
                <c:pt idx="1">
                  <c:v>-17.9</c:v>
                </c:pt>
                <c:pt idx="2">
                  <c:v>-17.9</c:v>
                </c:pt>
                <c:pt idx="3">
                  <c:v>-17.9</c:v>
                </c:pt>
                <c:pt idx="4">
                  <c:v>-17.9</c:v>
                </c:pt>
                <c:pt idx="5">
                  <c:v>-17.9</c:v>
                </c:pt>
                <c:pt idx="6">
                  <c:v>-17.9</c:v>
                </c:pt>
                <c:pt idx="7">
                  <c:v>-17.9</c:v>
                </c:pt>
                <c:pt idx="8">
                  <c:v>-17.9</c:v>
                </c:pt>
                <c:pt idx="9">
                  <c:v>-17.9</c:v>
                </c:pt>
                <c:pt idx="10">
                  <c:v>-17.9</c:v>
                </c:pt>
                <c:pt idx="11">
                  <c:v>-17.9</c:v>
                </c:pt>
                <c:pt idx="12">
                  <c:v>-17.9</c:v>
                </c:pt>
                <c:pt idx="13">
                  <c:v>-17.9</c:v>
                </c:pt>
                <c:pt idx="14">
                  <c:v>-17.9</c:v>
                </c:pt>
                <c:pt idx="15">
                  <c:v>-17.9</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64748B"/>
                    </a:solidFill>
                  </a:rPr>
                  <a:t>generation</a:t>
                </a:r>
              </a:p>
            </c:rich>
          </c:tx>
          <c:layout/>
          <c:overlay val="0"/>
        </c:title>
        <c:majorTickMark val="out"/>
        <c:minorTickMark val="none"/>
        <c:tickLblPos val="low"/>
        <c:spPr>
          <a:ln>
            <a:solidFill>
              <a:srgbClr val="94A3B8"/>
            </a:solidFill>
          </a:ln>
        </c:spPr>
        <c:txPr>
          <a:bodyPr/>
          <a:lstStyle/>
          <a:p>
            <a:pPr>
              <a:defRPr sz="1100"/>
            </a:pPr>
          </a:p>
        </c:txPr>
        <c:crossAx val="2140495176"/>
        <c:crosses val="autoZero"/>
        <c:auto val="1"/>
        <c:lblAlgn val="ctr"/>
        <c:lblOffset val="100"/>
        <c:noMultiLvlLbl val="0"/>
      </c:catAx>
      <c:valAx>
        <c:axId val="2140495176"/>
        <c:scaling>
          <c:max val="90.0"/>
          <c:min val="-30.0"/>
        </c:scaling>
        <c:delete val="0"/>
        <c:axPos val="l"/>
        <c:majorGridlines>
          <c:spPr>
            <a:ln>
              <a:solidFill>
                <a:srgbClr val="E2E8F0"/>
              </a:solidFill>
            </a:ln>
          </c:spPr>
        </c:majorGridlines>
        <c:title>
          <c:tx>
            <c:rich>
              <a:bodyPr/>
              <a:lstStyle/>
              <a:p>
                <a:r>
                  <a:rPr sz="1100" b="0">
                    <a:solidFill>
                      <a:srgbClr val="64748B"/>
                    </a:solidFill>
                  </a:rPr>
                  <a:t>formation energy (meV/atom)</a:t>
                </a:r>
              </a:p>
            </c:rich>
          </c:tx>
          <c:layout/>
          <c:overlay val="0"/>
        </c:title>
        <c:majorTickMark val="out"/>
        <c:minorTickMark val="none"/>
        <c:tickLblPos val="nextTo"/>
        <c:spPr>
          <a:ln>
            <a:noFill/>
          </a:ln>
        </c:spPr>
        <c:txPr>
          <a:bodyPr/>
          <a:lstStyle/>
          <a:p>
            <a:pPr>
              <a:defRPr sz="1100"/>
            </a:pPr>
          </a:p>
        </c:txPr>
        <c:crossAx val="2118791784"/>
        <c:crosses val="autoZero"/>
        <c:majorUnit val="30.0"/>
      </c:valAx>
    </c:plotArea>
    <c:legend>
      <c:legendPos val="b"/>
      <c:layout/>
      <c:overlay val="0"/>
      <c:txPr>
        <a:bodyPr/>
        <a:lstStyle/>
        <a:p>
          <a:pPr>
            <a:defRPr sz="1100"/>
          </a:pPr>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Today: MACE, a machine-learned model of atomic forces, and why it is the kind of tool an AI agent needs to do real materials and chemistry discovery. Five minutes of slides, then a live demo where Claude Code drives MACE on this laptop.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 MACE is a machine-learned interatomic potential. You give it atoms (where they are and what element they are) and it returns the energy, the force on every atom, and the stress on the cell. It is trained on quantum-mechanical DFT calculations, so it is close to DFT accuracy but thousands of times faster. Users: materials scientists, chemists, simulation engineers, and increasingly AI agents that need a physics tool they can call.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[0:45–1:15] Trade-off map. Classical force fields are fast but crude. DFT is accurate but expensive and scales as N cubed. Coupled cluster is the gold standard and even slower. MACE learns from DFT once, then predicts at a tiny fraction of the cost, and it scales linearly with the number of atoms, so the gap grows with system size.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[1:15–1:55] The core physics. Atoms sit on a potential energy surface. The force is the negative slope: stretch a bond and the force pulls it back; at the minimum the force is zero. MACE writes the total energy as a sum of atomic energies, each depending only on neighbors within a cutoff of about 6 angstroms. Forces come from differentiating that energy automatically, which guarantees energy conservation in molecular dynamics.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[1:55–2:40] The engineering. MACE is a graph neural network: atoms are nodes, neighbors within the cutoff are edges. Step 1 embeds each element. Step 2 builds a neighbor basis from distances (radial functions) and directions (spherical harmonics). Step 3 is the key idea from the Atomic Cluster Expansion: tensor products of that basis create 4-body interactions in a single message. Step 4 updates and reads out per-atom energy. Everything is equivariant, so rotating the input rotates the forces correctly, and high body order means only two layers are needed, which makes it fast.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[2:40–3:20] Where agents come in. The LLM is good at planning and reasoning but cannot know what atoms will do. MACE is a tool it can call: build a structure, relax it or run dynamics, read the energies and forces, decide what to try next. In a discovery funnel, the agent can generate a million ideas, MACE screens ten thousand in milliseconds each, DFT checks the top hundred, and only ten go to the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[3:20–4:00] An evolutionary workflow. A population of candidate structures, mutate them, score every child with MACE, keep the fittest, repeat. The chart is a real run on this laptop: 32-atom copper-gold alloys, 235 MACE calls in 17 seconds. The blind GA improves a lot, from about +50 to +18 meV per atom, but it stalls. The known stable phase, L1-zero, is at −18. That gap is the opening for an LLM: replace random mutation with an agent that proposes chemically sensible changes. You'll see exactly this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[4:00–4:30] Other patterns. Active learning: the agent watches MACE's uncertainty and sends only the uncertain structures to DFT, then fine-tunes. An MCP server wraps MACE as tools that Claude or any agent can call. A multi-agent team splits planning, simulation, and critique. And for properties like diffusion or mechanical strength, the agent sets up long MACE molecular-dynamics runs that DFT could never afford.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[4:30–4:50] Four cautions before an agent trusts MACE. It can fail silently outside its training data. It inherits the errors of the DFT it learned from. Universal models are known to be a bit too soft. And it is local, so long-range electrostatics need extra terms. The rule for an agent: MACE screens, DFT confirms the winners.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[4:50–5:00] Switch to VS Code. Follow DEMO_SCRIPT.md: Act 1 forces, Act 2 blind GA, Act 3 Claude as the mutation operator.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demo, ~20 s] Recap: MACE learns the energy and gets forces for free; its equivariant many-body design is why it's accurate and fast; agents need exactly this kind of cheap, callable physics; and the loop closes with DFT and lab verification.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itle_network.png"/>
          <p:cNvPicPr>
            <a:picLocks noChangeAspect="1"/>
          </p:cNvPicPr>
          <p:nvPr/>
        </p:nvPicPr>
        <p:blipFill>
          <a:blip r:embed="rId2">
            <a:alphaModFix amt="70000"/>
          </a:blip>
          <a:srcRect r="12088"/>
          <a:stretch>
            <a:fillRect/>
          </a:stretch>
        </p:blipFill>
        <p:spPr>
          <a:xfrm>
            <a:off x="5760720" y="0"/>
            <a:ext cx="6430975" cy="6858000"/>
          </a:xfrm>
          <a:prstGeom prst="rect">
            <a:avLst/>
          </a:prstGeom>
        </p:spPr>
      </p:pic>
      <p:sp>
        <p:nvSpPr>
          <p:cNvPr id="3" name="TextBox 2"/>
          <p:cNvSpPr txBox="1"/>
          <p:nvPr/>
        </p:nvSpPr>
        <p:spPr>
          <a:xfrm>
            <a:off x="731520" y="1783080"/>
            <a:ext cx="6400800" cy="320040"/>
          </a:xfrm>
          <a:prstGeom prst="rect">
            <a:avLst/>
          </a:prstGeom>
          <a:noFill/>
        </p:spPr>
        <p:txBody>
          <a:bodyPr wrap="square" lIns="0" rIns="0" tIns="0" bIns="0" anchor="t">
            <a:spAutoFit/>
          </a:bodyPr>
          <a:lstStyle/>
          <a:p>
            <a:pPr algn="l"/>
            <a:r>
              <a:rPr sz="1400" b="1" i="0">
                <a:solidFill>
                  <a:srgbClr val="500000"/>
                </a:solidFill>
                <a:latin typeface="Arial"/>
              </a:rPr>
              <a:t>AGENTIC DISCOVERY &amp; DEVELOPMENT  ·  TEXAS A&amp;M</a:t>
            </a:r>
          </a:p>
        </p:txBody>
      </p:sp>
      <p:sp>
        <p:nvSpPr>
          <p:cNvPr id="4" name="TextBox 3"/>
          <p:cNvSpPr txBox="1"/>
          <p:nvPr/>
        </p:nvSpPr>
        <p:spPr>
          <a:xfrm>
            <a:off x="685800" y="2148840"/>
            <a:ext cx="6400800" cy="1463040"/>
          </a:xfrm>
          <a:prstGeom prst="rect">
            <a:avLst/>
          </a:prstGeom>
          <a:noFill/>
        </p:spPr>
        <p:txBody>
          <a:bodyPr wrap="square" lIns="0" rIns="0" tIns="0" bIns="0" anchor="t">
            <a:spAutoFit/>
          </a:bodyPr>
          <a:lstStyle/>
          <a:p>
            <a:pPr algn="l"/>
            <a:r>
              <a:rPr sz="11000" b="1" i="0">
                <a:solidFill>
                  <a:srgbClr val="1E293B"/>
                </a:solidFill>
                <a:latin typeface="Arial"/>
              </a:rPr>
              <a:t>MACE</a:t>
            </a:r>
          </a:p>
        </p:txBody>
      </p:sp>
      <p:sp>
        <p:nvSpPr>
          <p:cNvPr id="5" name="TextBox 4"/>
          <p:cNvSpPr txBox="1"/>
          <p:nvPr/>
        </p:nvSpPr>
        <p:spPr>
          <a:xfrm>
            <a:off x="731520" y="3703320"/>
            <a:ext cx="4846320" cy="914400"/>
          </a:xfrm>
          <a:prstGeom prst="rect">
            <a:avLst/>
          </a:prstGeom>
          <a:noFill/>
        </p:spPr>
        <p:txBody>
          <a:bodyPr wrap="square" lIns="0" rIns="0" tIns="0" bIns="0" anchor="t">
            <a:spAutoFit/>
          </a:bodyPr>
          <a:lstStyle/>
          <a:p>
            <a:pPr algn="l"/>
            <a:r>
              <a:rPr sz="2400" b="0" i="0">
                <a:solidFill>
                  <a:srgbClr val="64748B"/>
                </a:solidFill>
                <a:latin typeface="Arial"/>
              </a:rPr>
              <a:t>Machine-learned atomic forces as an agent's physics engine</a:t>
            </a:r>
          </a:p>
        </p:txBody>
      </p:sp>
      <p:sp>
        <p:nvSpPr>
          <p:cNvPr id="6" name="TextBox 5"/>
          <p:cNvSpPr txBox="1"/>
          <p:nvPr/>
        </p:nvSpPr>
        <p:spPr>
          <a:xfrm>
            <a:off x="731520" y="4892040"/>
            <a:ext cx="5486400" cy="320040"/>
          </a:xfrm>
          <a:prstGeom prst="rect">
            <a:avLst/>
          </a:prstGeom>
          <a:noFill/>
        </p:spPr>
        <p:txBody>
          <a:bodyPr wrap="square" lIns="0" rIns="0" tIns="0" bIns="0" anchor="t">
            <a:spAutoFit/>
          </a:bodyPr>
          <a:lstStyle/>
          <a:p>
            <a:pPr algn="l"/>
            <a:r>
              <a:rPr sz="1400" b="0" i="1">
                <a:solidFill>
                  <a:srgbClr val="94A3B8"/>
                </a:solidFill>
                <a:latin typeface="Arial"/>
              </a:rPr>
              <a:t>Joshua Jang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What is MACE?</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A machine-learned interatomic potential: quantum-level accuracy at force-field speed</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02</a:t>
            </a:r>
          </a:p>
        </p:txBody>
      </p:sp>
      <p:sp>
        <p:nvSpPr>
          <p:cNvPr id="6" name="Rounded Rectangle 5"/>
          <p:cNvSpPr/>
          <p:nvPr/>
        </p:nvSpPr>
        <p:spPr>
          <a:xfrm>
            <a:off x="548640" y="1783080"/>
            <a:ext cx="3017520" cy="2148840"/>
          </a:xfrm>
          <a:prstGeom prst="roundRect">
            <a:avLst>
              <a:gd name="adj" fmla="val 6382"/>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flipV="1">
            <a:off x="1417320" y="2286000"/>
            <a:ext cx="68580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2514600"/>
            <a:ext cx="54864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14400" y="2514600"/>
            <a:ext cx="502920" cy="4572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03120" y="2286000"/>
            <a:ext cx="59436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965960" y="2697480"/>
            <a:ext cx="73152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225296" y="2322576"/>
            <a:ext cx="384048" cy="384048"/>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956815" y="213969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819656" y="277977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68096" y="2825496"/>
            <a:ext cx="292608" cy="292608"/>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569464" y="2569464"/>
            <a:ext cx="256032" cy="256032"/>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291840"/>
            <a:ext cx="2651760" cy="274320"/>
          </a:xfrm>
          <a:prstGeom prst="rect">
            <a:avLst/>
          </a:prstGeom>
          <a:noFill/>
        </p:spPr>
        <p:txBody>
          <a:bodyPr wrap="square" lIns="0" rIns="0" tIns="0" bIns="0" anchor="t">
            <a:spAutoFit/>
          </a:bodyPr>
          <a:lstStyle/>
          <a:p>
            <a:pPr algn="l"/>
            <a:r>
              <a:rPr sz="1600" b="1" i="0">
                <a:solidFill>
                  <a:srgbClr val="1E293B"/>
                </a:solidFill>
                <a:latin typeface="Arial"/>
              </a:rPr>
              <a:t>Atoms in</a:t>
            </a:r>
          </a:p>
        </p:txBody>
      </p:sp>
      <p:sp>
        <p:nvSpPr>
          <p:cNvPr id="18" name="TextBox 17"/>
          <p:cNvSpPr txBox="1"/>
          <p:nvPr/>
        </p:nvSpPr>
        <p:spPr>
          <a:xfrm>
            <a:off x="777240" y="3584448"/>
            <a:ext cx="2651760" cy="274320"/>
          </a:xfrm>
          <a:prstGeom prst="rect">
            <a:avLst/>
          </a:prstGeom>
          <a:noFill/>
        </p:spPr>
        <p:txBody>
          <a:bodyPr wrap="square" lIns="0" rIns="0" tIns="0" bIns="0" anchor="t">
            <a:spAutoFit/>
          </a:bodyPr>
          <a:lstStyle/>
          <a:p>
            <a:pPr algn="l"/>
            <a:r>
              <a:rPr sz="1200" b="0" i="0">
                <a:solidFill>
                  <a:srgbClr val="64748B"/>
                </a:solidFill>
                <a:latin typeface="Arial"/>
              </a:rPr>
              <a:t>positions r</a:t>
            </a:r>
            <a:r>
              <a:rPr sz="1200" b="0" i="0" baseline="-25000">
                <a:solidFill>
                  <a:srgbClr val="64748B"/>
                </a:solidFill>
                <a:latin typeface="Arial"/>
              </a:rPr>
              <a:t>i</a:t>
            </a:r>
            <a:r>
              <a:rPr sz="1200" b="0" i="0">
                <a:solidFill>
                  <a:srgbClr val="64748B"/>
                </a:solidFill>
                <a:latin typeface="Arial"/>
              </a:rPr>
              <a:t>  +  elements Z</a:t>
            </a:r>
            <a:r>
              <a:rPr sz="1200" b="0" i="0" baseline="-25000">
                <a:solidFill>
                  <a:srgbClr val="64748B"/>
                </a:solidFill>
                <a:latin typeface="Arial"/>
              </a:rPr>
              <a:t>i</a:t>
            </a:r>
          </a:p>
        </p:txBody>
      </p:sp>
      <p:cxnSp>
        <p:nvCxnSpPr>
          <p:cNvPr id="19" name="Connector 18"/>
          <p:cNvCxnSpPr/>
          <p:nvPr/>
        </p:nvCxnSpPr>
        <p:spPr>
          <a:xfrm>
            <a:off x="3657600" y="2852928"/>
            <a:ext cx="502920"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51960" y="1783080"/>
            <a:ext cx="3108960" cy="2148840"/>
          </a:xfrm>
          <a:prstGeom prst="roundRect">
            <a:avLst>
              <a:gd name="adj" fmla="val 6382"/>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600" b="1" i="0">
                <a:solidFill>
                  <a:srgbClr val="FFFFFF"/>
                </a:solidFill>
                <a:latin typeface="Arial"/>
              </a:rPr>
              <a:t>MACE</a:t>
            </a:r>
          </a:p>
          <a:p>
            <a:pPr algn="ctr"/>
            <a:r>
              <a:rPr sz="1300" b="0" i="0">
                <a:solidFill>
                  <a:srgbClr val="FFFFFF"/>
                </a:solidFill>
                <a:latin typeface="Arial"/>
              </a:rPr>
              <a:t>equivariant graph</a:t>
            </a:r>
          </a:p>
          <a:p>
            <a:pPr algn="ctr"/>
            <a:r>
              <a:rPr sz="1300" b="0" i="0">
                <a:solidFill>
                  <a:srgbClr val="FFFFFF"/>
                </a:solidFill>
                <a:latin typeface="Arial"/>
              </a:rPr>
              <a:t>neural network</a:t>
            </a:r>
          </a:p>
        </p:txBody>
      </p:sp>
      <p:cxnSp>
        <p:nvCxnSpPr>
          <p:cNvPr id="21" name="Connector 20"/>
          <p:cNvCxnSpPr/>
          <p:nvPr/>
        </p:nvCxnSpPr>
        <p:spPr>
          <a:xfrm>
            <a:off x="7452360" y="2852928"/>
            <a:ext cx="502919"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46720" y="1783080"/>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183879" y="1874519"/>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500000"/>
                </a:solidFill>
                <a:latin typeface="Cambria Math"/>
              </a:rPr>
              <a:t>E</a:t>
            </a:r>
          </a:p>
        </p:txBody>
      </p:sp>
      <p:sp>
        <p:nvSpPr>
          <p:cNvPr id="24" name="TextBox 23"/>
          <p:cNvSpPr txBox="1"/>
          <p:nvPr/>
        </p:nvSpPr>
        <p:spPr>
          <a:xfrm>
            <a:off x="8796528" y="1892807"/>
            <a:ext cx="2743200" cy="457200"/>
          </a:xfrm>
          <a:prstGeom prst="rect">
            <a:avLst/>
          </a:prstGeom>
          <a:noFill/>
        </p:spPr>
        <p:txBody>
          <a:bodyPr wrap="square" lIns="0" rIns="0" tIns="0" bIns="0" anchor="ctr">
            <a:spAutoFit/>
          </a:bodyPr>
          <a:lstStyle/>
          <a:p>
            <a:pPr algn="l"/>
            <a:r>
              <a:rPr sz="1400" b="1" i="0">
                <a:solidFill>
                  <a:srgbClr val="1E293B"/>
                </a:solidFill>
                <a:latin typeface="Arial"/>
              </a:rPr>
              <a:t>total energy</a:t>
            </a:r>
            <a:r>
              <a:rPr sz="1400" b="0" i="0">
                <a:solidFill>
                  <a:srgbClr val="94A3B8"/>
                </a:solidFill>
                <a:latin typeface="Arial"/>
              </a:rPr>
              <a:t>   eV</a:t>
            </a:r>
          </a:p>
        </p:txBody>
      </p:sp>
      <p:sp>
        <p:nvSpPr>
          <p:cNvPr id="25" name="Rounded Rectangle 24"/>
          <p:cNvSpPr/>
          <p:nvPr/>
        </p:nvSpPr>
        <p:spPr>
          <a:xfrm>
            <a:off x="8046720" y="2532888"/>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83879" y="2624328"/>
            <a:ext cx="457200" cy="4572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Cambria Math"/>
              </a:rPr>
              <a:t>F</a:t>
            </a:r>
            <a:r>
              <a:rPr sz="1500" b="1" i="0" baseline="-25000">
                <a:solidFill>
                  <a:srgbClr val="FFFFFF"/>
                </a:solidFill>
                <a:latin typeface="Cambria Math"/>
              </a:rPr>
              <a:t>i</a:t>
            </a:r>
          </a:p>
        </p:txBody>
      </p:sp>
      <p:sp>
        <p:nvSpPr>
          <p:cNvPr id="27" name="TextBox 26"/>
          <p:cNvSpPr txBox="1"/>
          <p:nvPr/>
        </p:nvSpPr>
        <p:spPr>
          <a:xfrm>
            <a:off x="8796528" y="2642616"/>
            <a:ext cx="2743200" cy="457200"/>
          </a:xfrm>
          <a:prstGeom prst="rect">
            <a:avLst/>
          </a:prstGeom>
          <a:noFill/>
        </p:spPr>
        <p:txBody>
          <a:bodyPr wrap="square" lIns="0" rIns="0" tIns="0" bIns="0" anchor="ctr">
            <a:spAutoFit/>
          </a:bodyPr>
          <a:lstStyle/>
          <a:p>
            <a:pPr algn="l"/>
            <a:r>
              <a:rPr sz="1400" b="1" i="0">
                <a:solidFill>
                  <a:srgbClr val="1E293B"/>
                </a:solidFill>
                <a:latin typeface="Arial"/>
              </a:rPr>
              <a:t>force on every atom</a:t>
            </a:r>
            <a:r>
              <a:rPr sz="1400" b="0" i="0">
                <a:solidFill>
                  <a:srgbClr val="94A3B8"/>
                </a:solidFill>
                <a:latin typeface="Arial"/>
              </a:rPr>
              <a:t>   eV/Å</a:t>
            </a:r>
          </a:p>
        </p:txBody>
      </p:sp>
      <p:sp>
        <p:nvSpPr>
          <p:cNvPr id="28" name="Rounded Rectangle 27"/>
          <p:cNvSpPr/>
          <p:nvPr/>
        </p:nvSpPr>
        <p:spPr>
          <a:xfrm>
            <a:off x="8046720" y="3282696"/>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183879" y="3374136"/>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500000"/>
                </a:solidFill>
                <a:latin typeface="Cambria Math"/>
              </a:rPr>
              <a:t>σ</a:t>
            </a:r>
          </a:p>
        </p:txBody>
      </p:sp>
      <p:sp>
        <p:nvSpPr>
          <p:cNvPr id="30" name="TextBox 29"/>
          <p:cNvSpPr txBox="1"/>
          <p:nvPr/>
        </p:nvSpPr>
        <p:spPr>
          <a:xfrm>
            <a:off x="8796528" y="3392424"/>
            <a:ext cx="2743200" cy="457200"/>
          </a:xfrm>
          <a:prstGeom prst="rect">
            <a:avLst/>
          </a:prstGeom>
          <a:noFill/>
        </p:spPr>
        <p:txBody>
          <a:bodyPr wrap="square" lIns="0" rIns="0" tIns="0" bIns="0" anchor="ctr">
            <a:spAutoFit/>
          </a:bodyPr>
          <a:lstStyle/>
          <a:p>
            <a:pPr algn="l"/>
            <a:r>
              <a:rPr sz="1400" b="1" i="0">
                <a:solidFill>
                  <a:srgbClr val="1E293B"/>
                </a:solidFill>
                <a:latin typeface="Arial"/>
              </a:rPr>
              <a:t>stress on the cell</a:t>
            </a:r>
            <a:r>
              <a:rPr sz="1400" b="0" i="0">
                <a:solidFill>
                  <a:srgbClr val="94A3B8"/>
                </a:solidFill>
                <a:latin typeface="Arial"/>
              </a:rPr>
              <a:t>   GPa</a:t>
            </a:r>
          </a:p>
        </p:txBody>
      </p:sp>
      <p:sp>
        <p:nvSpPr>
          <p:cNvPr id="31" name="TextBox 30"/>
          <p:cNvSpPr txBox="1"/>
          <p:nvPr/>
        </p:nvSpPr>
        <p:spPr>
          <a:xfrm>
            <a:off x="548640" y="4224528"/>
            <a:ext cx="5486400" cy="274320"/>
          </a:xfrm>
          <a:prstGeom prst="rect">
            <a:avLst/>
          </a:prstGeom>
          <a:noFill/>
        </p:spPr>
        <p:txBody>
          <a:bodyPr wrap="square" lIns="0" rIns="0" tIns="0" bIns="0" anchor="t">
            <a:spAutoFit/>
          </a:bodyPr>
          <a:lstStyle/>
          <a:p>
            <a:pPr algn="l"/>
            <a:r>
              <a:rPr sz="1100" b="1" i="0">
                <a:solidFill>
                  <a:srgbClr val="B87878"/>
                </a:solidFill>
                <a:latin typeface="Arial"/>
              </a:rPr>
              <a:t>WHO USES IT</a:t>
            </a:r>
          </a:p>
        </p:txBody>
      </p:sp>
      <p:sp>
        <p:nvSpPr>
          <p:cNvPr id="32" name="Rounded Rectangle 31"/>
          <p:cNvSpPr/>
          <p:nvPr/>
        </p:nvSpPr>
        <p:spPr>
          <a:xfrm>
            <a:off x="54864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768095"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Li</a:t>
            </a:r>
          </a:p>
        </p:txBody>
      </p:sp>
      <p:sp>
        <p:nvSpPr>
          <p:cNvPr id="34" name="TextBox 33"/>
          <p:cNvSpPr txBox="1"/>
          <p:nvPr/>
        </p:nvSpPr>
        <p:spPr>
          <a:xfrm>
            <a:off x="777240" y="5394960"/>
            <a:ext cx="2240280" cy="274320"/>
          </a:xfrm>
          <a:prstGeom prst="rect">
            <a:avLst/>
          </a:prstGeom>
          <a:noFill/>
        </p:spPr>
        <p:txBody>
          <a:bodyPr wrap="square" lIns="0" rIns="0" tIns="0" bIns="0" anchor="t">
            <a:spAutoFit/>
          </a:bodyPr>
          <a:lstStyle/>
          <a:p>
            <a:pPr algn="l"/>
            <a:r>
              <a:rPr sz="1500" b="1" i="0">
                <a:solidFill>
                  <a:srgbClr val="1E293B"/>
                </a:solidFill>
                <a:latin typeface="Arial"/>
              </a:rPr>
              <a:t>Materials scientists</a:t>
            </a:r>
          </a:p>
        </p:txBody>
      </p:sp>
      <p:sp>
        <p:nvSpPr>
          <p:cNvPr id="35" name="TextBox 34"/>
          <p:cNvSpPr txBox="1"/>
          <p:nvPr/>
        </p:nvSpPr>
        <p:spPr>
          <a:xfrm>
            <a:off x="777240" y="5669280"/>
            <a:ext cx="2240280" cy="457200"/>
          </a:xfrm>
          <a:prstGeom prst="rect">
            <a:avLst/>
          </a:prstGeom>
          <a:noFill/>
        </p:spPr>
        <p:txBody>
          <a:bodyPr wrap="square" lIns="0" rIns="0" tIns="0" bIns="0" anchor="t">
            <a:spAutoFit/>
          </a:bodyPr>
          <a:lstStyle/>
          <a:p>
            <a:pPr algn="l"/>
            <a:r>
              <a:rPr sz="1200" b="0" i="0">
                <a:solidFill>
                  <a:srgbClr val="64748B"/>
                </a:solidFill>
                <a:latin typeface="Arial"/>
              </a:rPr>
              <a:t>batteries, catalysts, alloys</a:t>
            </a:r>
          </a:p>
        </p:txBody>
      </p:sp>
      <p:sp>
        <p:nvSpPr>
          <p:cNvPr id="36" name="Rounded Rectangle 35"/>
          <p:cNvSpPr/>
          <p:nvPr/>
        </p:nvSpPr>
        <p:spPr>
          <a:xfrm>
            <a:off x="338328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60273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C</a:t>
            </a:r>
          </a:p>
        </p:txBody>
      </p:sp>
      <p:sp>
        <p:nvSpPr>
          <p:cNvPr id="38" name="TextBox 37"/>
          <p:cNvSpPr txBox="1"/>
          <p:nvPr/>
        </p:nvSpPr>
        <p:spPr>
          <a:xfrm>
            <a:off x="3611880" y="5394960"/>
            <a:ext cx="2240280" cy="274320"/>
          </a:xfrm>
          <a:prstGeom prst="rect">
            <a:avLst/>
          </a:prstGeom>
          <a:noFill/>
        </p:spPr>
        <p:txBody>
          <a:bodyPr wrap="square" lIns="0" rIns="0" tIns="0" bIns="0" anchor="t">
            <a:spAutoFit/>
          </a:bodyPr>
          <a:lstStyle/>
          <a:p>
            <a:pPr algn="l"/>
            <a:r>
              <a:rPr sz="1500" b="1" i="0">
                <a:solidFill>
                  <a:srgbClr val="1E293B"/>
                </a:solidFill>
                <a:latin typeface="Arial"/>
              </a:rPr>
              <a:t>Chemists &amp; pharma</a:t>
            </a:r>
          </a:p>
        </p:txBody>
      </p:sp>
      <p:sp>
        <p:nvSpPr>
          <p:cNvPr id="39" name="TextBox 38"/>
          <p:cNvSpPr txBox="1"/>
          <p:nvPr/>
        </p:nvSpPr>
        <p:spPr>
          <a:xfrm>
            <a:off x="3611880" y="5669280"/>
            <a:ext cx="2240280" cy="457200"/>
          </a:xfrm>
          <a:prstGeom prst="rect">
            <a:avLst/>
          </a:prstGeom>
          <a:noFill/>
        </p:spPr>
        <p:txBody>
          <a:bodyPr wrap="square" lIns="0" rIns="0" tIns="0" bIns="0" anchor="t">
            <a:spAutoFit/>
          </a:bodyPr>
          <a:lstStyle/>
          <a:p>
            <a:pPr algn="l"/>
            <a:r>
              <a:rPr sz="1200" b="0" i="0">
                <a:solidFill>
                  <a:srgbClr val="64748B"/>
                </a:solidFill>
                <a:latin typeface="Arial"/>
              </a:rPr>
              <a:t>molecules, liquids, drug-like systems</a:t>
            </a:r>
          </a:p>
        </p:txBody>
      </p:sp>
      <p:sp>
        <p:nvSpPr>
          <p:cNvPr id="40" name="Rounded Rectangle 39"/>
          <p:cNvSpPr/>
          <p:nvPr/>
        </p:nvSpPr>
        <p:spPr>
          <a:xfrm>
            <a:off x="621792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43737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MD</a:t>
            </a:r>
          </a:p>
        </p:txBody>
      </p:sp>
      <p:sp>
        <p:nvSpPr>
          <p:cNvPr id="42" name="TextBox 41"/>
          <p:cNvSpPr txBox="1"/>
          <p:nvPr/>
        </p:nvSpPr>
        <p:spPr>
          <a:xfrm>
            <a:off x="6446520" y="5394960"/>
            <a:ext cx="2240280" cy="274320"/>
          </a:xfrm>
          <a:prstGeom prst="rect">
            <a:avLst/>
          </a:prstGeom>
          <a:noFill/>
        </p:spPr>
        <p:txBody>
          <a:bodyPr wrap="square" lIns="0" rIns="0" tIns="0" bIns="0" anchor="t">
            <a:spAutoFit/>
          </a:bodyPr>
          <a:lstStyle/>
          <a:p>
            <a:pPr algn="l"/>
            <a:r>
              <a:rPr sz="1500" b="1" i="0">
                <a:solidFill>
                  <a:srgbClr val="1E293B"/>
                </a:solidFill>
                <a:latin typeface="Arial"/>
              </a:rPr>
              <a:t>Simulation engineers</a:t>
            </a:r>
          </a:p>
        </p:txBody>
      </p:sp>
      <p:sp>
        <p:nvSpPr>
          <p:cNvPr id="43" name="TextBox 42"/>
          <p:cNvSpPr txBox="1"/>
          <p:nvPr/>
        </p:nvSpPr>
        <p:spPr>
          <a:xfrm>
            <a:off x="6446520" y="5669280"/>
            <a:ext cx="2240280" cy="457200"/>
          </a:xfrm>
          <a:prstGeom prst="rect">
            <a:avLst/>
          </a:prstGeom>
          <a:noFill/>
        </p:spPr>
        <p:txBody>
          <a:bodyPr wrap="square" lIns="0" rIns="0" tIns="0" bIns="0" anchor="t">
            <a:spAutoFit/>
          </a:bodyPr>
          <a:lstStyle/>
          <a:p>
            <a:pPr algn="l"/>
            <a:r>
              <a:rPr sz="1200" b="0" i="0">
                <a:solidFill>
                  <a:srgbClr val="64748B"/>
                </a:solidFill>
                <a:latin typeface="Arial"/>
              </a:rPr>
              <a:t>10⁴–10⁶ atoms, nanoseconds of motion</a:t>
            </a:r>
          </a:p>
        </p:txBody>
      </p:sp>
      <p:sp>
        <p:nvSpPr>
          <p:cNvPr id="44" name="Rounded Rectangle 43"/>
          <p:cNvSpPr/>
          <p:nvPr/>
        </p:nvSpPr>
        <p:spPr>
          <a:xfrm>
            <a:off x="9052560" y="4526280"/>
            <a:ext cx="2606040" cy="1691640"/>
          </a:xfrm>
          <a:prstGeom prst="roundRect">
            <a:avLst>
              <a:gd name="adj" fmla="val 8108"/>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9272016" y="470001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500000"/>
                </a:solidFill>
                <a:latin typeface="Arial"/>
              </a:rPr>
              <a:t>AI</a:t>
            </a:r>
          </a:p>
        </p:txBody>
      </p:sp>
      <p:sp>
        <p:nvSpPr>
          <p:cNvPr id="46" name="TextBox 45"/>
          <p:cNvSpPr txBox="1"/>
          <p:nvPr/>
        </p:nvSpPr>
        <p:spPr>
          <a:xfrm>
            <a:off x="9281160" y="5394960"/>
            <a:ext cx="2240280" cy="274320"/>
          </a:xfrm>
          <a:prstGeom prst="rect">
            <a:avLst/>
          </a:prstGeom>
          <a:noFill/>
        </p:spPr>
        <p:txBody>
          <a:bodyPr wrap="square" lIns="0" rIns="0" tIns="0" bIns="0" anchor="t">
            <a:spAutoFit/>
          </a:bodyPr>
          <a:lstStyle/>
          <a:p>
            <a:pPr algn="l"/>
            <a:r>
              <a:rPr sz="1500" b="1" i="0">
                <a:solidFill>
                  <a:srgbClr val="FFFFFF"/>
                </a:solidFill>
                <a:latin typeface="Arial"/>
              </a:rPr>
              <a:t>AI agents</a:t>
            </a:r>
          </a:p>
        </p:txBody>
      </p:sp>
      <p:sp>
        <p:nvSpPr>
          <p:cNvPr id="47" name="TextBox 46"/>
          <p:cNvSpPr txBox="1"/>
          <p:nvPr/>
        </p:nvSpPr>
        <p:spPr>
          <a:xfrm>
            <a:off x="9281160" y="5669280"/>
            <a:ext cx="2240280" cy="457200"/>
          </a:xfrm>
          <a:prstGeom prst="rect">
            <a:avLst/>
          </a:prstGeom>
          <a:noFill/>
        </p:spPr>
        <p:txBody>
          <a:bodyPr wrap="square" lIns="0" rIns="0" tIns="0" bIns="0" anchor="t">
            <a:spAutoFit/>
          </a:bodyPr>
          <a:lstStyle/>
          <a:p>
            <a:pPr algn="l"/>
            <a:r>
              <a:rPr sz="1200" b="0" i="0">
                <a:solidFill>
                  <a:srgbClr val="E3C4C4"/>
                </a:solidFill>
                <a:latin typeface="Arial"/>
              </a:rPr>
              <a:t>a fast, callable physics oracle</a:t>
            </a:r>
          </a:p>
        </p:txBody>
      </p:sp>
      <p:sp>
        <p:nvSpPr>
          <p:cNvPr id="48" name="TextBox 47"/>
          <p:cNvSpPr txBox="1"/>
          <p:nvPr/>
        </p:nvSpPr>
        <p:spPr>
          <a:xfrm>
            <a:off x="548640" y="6428232"/>
            <a:ext cx="9601200" cy="228600"/>
          </a:xfrm>
          <a:prstGeom prst="rect">
            <a:avLst/>
          </a:prstGeom>
          <a:noFill/>
        </p:spPr>
        <p:txBody>
          <a:bodyPr wrap="square" lIns="0" rIns="0" tIns="0" bIns="0" anchor="t">
            <a:spAutoFit/>
          </a:bodyPr>
          <a:lstStyle/>
          <a:p>
            <a:pPr algn="l"/>
            <a:r>
              <a:rPr sz="900" b="0" i="0">
                <a:solidFill>
                  <a:srgbClr val="94A3B8"/>
                </a:solidFill>
                <a:latin typeface="Arial"/>
              </a:rPr>
              <a:t>Batatia et al., NeurIPS 2022 (MACE); MACE-MP-0 foundation model covers 89 elements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Where MACE sits: accuracy vs. cost</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Learn from expensive quantum calculations once, then predict cheaply forever</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03</a:t>
            </a:r>
          </a:p>
        </p:txBody>
      </p:sp>
      <p:cxnSp>
        <p:nvCxnSpPr>
          <p:cNvPr id="6" name="Connector 5"/>
          <p:cNvCxnSpPr/>
          <p:nvPr/>
        </p:nvCxnSpPr>
        <p:spPr>
          <a:xfrm>
            <a:off x="1005840" y="5394960"/>
            <a:ext cx="4937760"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05840" y="1783080"/>
            <a:ext cx="0" cy="361188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5486400"/>
            <a:ext cx="4937760" cy="274320"/>
          </a:xfrm>
          <a:prstGeom prst="rect">
            <a:avLst/>
          </a:prstGeom>
          <a:noFill/>
        </p:spPr>
        <p:txBody>
          <a:bodyPr wrap="square" lIns="0" rIns="0" tIns="0" bIns="0" anchor="t">
            <a:spAutoFit/>
          </a:bodyPr>
          <a:lstStyle/>
          <a:p>
            <a:pPr algn="l"/>
            <a:r>
              <a:rPr sz="1200" b="0" i="0">
                <a:solidFill>
                  <a:srgbClr val="64748B"/>
                </a:solidFill>
                <a:latin typeface="Arial"/>
              </a:rPr>
              <a:t>compute cost per calculation  (log scale)  →</a:t>
            </a:r>
          </a:p>
        </p:txBody>
      </p:sp>
      <p:sp>
        <p:nvSpPr>
          <p:cNvPr id="9" name="TextBox 8"/>
          <p:cNvSpPr txBox="1"/>
          <p:nvPr/>
        </p:nvSpPr>
        <p:spPr>
          <a:xfrm rot="16200000">
            <a:off x="-502920" y="3383280"/>
            <a:ext cx="2011680" cy="320040"/>
          </a:xfrm>
          <a:prstGeom prst="rect">
            <a:avLst/>
          </a:prstGeom>
          <a:noFill/>
        </p:spPr>
        <p:txBody>
          <a:bodyPr wrap="square" lIns="0" rIns="0" tIns="0" bIns="0" anchor="ctr">
            <a:spAutoFit/>
          </a:bodyPr>
          <a:lstStyle/>
          <a:p>
            <a:pPr algn="ctr"/>
            <a:r>
              <a:rPr sz="1200" b="0" i="0">
                <a:solidFill>
                  <a:srgbClr val="64748B"/>
                </a:solidFill>
                <a:latin typeface="Arial"/>
              </a:rPr>
              <a:t>accuracy  →</a:t>
            </a:r>
          </a:p>
        </p:txBody>
      </p:sp>
      <p:sp>
        <p:nvSpPr>
          <p:cNvPr id="10" name="Oval 9"/>
          <p:cNvSpPr/>
          <p:nvPr/>
        </p:nvSpPr>
        <p:spPr>
          <a:xfrm>
            <a:off x="1348740" y="4457700"/>
            <a:ext cx="502920" cy="502920"/>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263140" y="2263140"/>
            <a:ext cx="868680" cy="868680"/>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183380" y="2171700"/>
            <a:ext cx="685800" cy="685800"/>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212080" y="1737360"/>
            <a:ext cx="548640" cy="548640"/>
          </a:xfrm>
          <a:prstGeom prst="ellipse">
            <a:avLst/>
          </a:prstGeom>
          <a:solidFill>
            <a:srgbClr val="64748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 name="Connector 13"/>
          <p:cNvCxnSpPr/>
          <p:nvPr/>
        </p:nvCxnSpPr>
        <p:spPr>
          <a:xfrm flipH="1">
            <a:off x="3200400" y="2578608"/>
            <a:ext cx="960120" cy="91440"/>
          </a:xfrm>
          <a:prstGeom prst="line">
            <a:avLst/>
          </a:prstGeom>
          <a:ln w="28575">
            <a:solidFill>
              <a:srgbClr val="C9A22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54680" y="2011680"/>
            <a:ext cx="1463040" cy="274320"/>
          </a:xfrm>
          <a:prstGeom prst="rect">
            <a:avLst/>
          </a:prstGeom>
          <a:noFill/>
        </p:spPr>
        <p:txBody>
          <a:bodyPr wrap="square" lIns="0" rIns="0" tIns="0" bIns="0" anchor="t">
            <a:spAutoFit/>
          </a:bodyPr>
          <a:lstStyle/>
          <a:p>
            <a:pPr algn="l"/>
            <a:r>
              <a:rPr sz="1100" b="1" i="1">
                <a:solidFill>
                  <a:srgbClr val="C9A227"/>
                </a:solidFill>
                <a:latin typeface="Arial"/>
              </a:rPr>
              <a:t>trained on DFT</a:t>
            </a:r>
          </a:p>
        </p:txBody>
      </p:sp>
      <p:sp>
        <p:nvSpPr>
          <p:cNvPr id="16" name="TextBox 15"/>
          <p:cNvSpPr txBox="1"/>
          <p:nvPr/>
        </p:nvSpPr>
        <p:spPr>
          <a:xfrm>
            <a:off x="1051560" y="4023360"/>
            <a:ext cx="1371600" cy="457200"/>
          </a:xfrm>
          <a:prstGeom prst="rect">
            <a:avLst/>
          </a:prstGeom>
          <a:noFill/>
        </p:spPr>
        <p:txBody>
          <a:bodyPr wrap="square" lIns="0" rIns="0" tIns="0" bIns="0" anchor="t">
            <a:spAutoFit/>
          </a:bodyPr>
          <a:lstStyle/>
          <a:p>
            <a:pPr algn="ctr"/>
            <a:r>
              <a:rPr sz="1200" b="0" i="0">
                <a:solidFill>
                  <a:srgbClr val="64748B"/>
                </a:solidFill>
                <a:latin typeface="Arial"/>
              </a:rPr>
              <a:t>Classical force fields</a:t>
            </a:r>
          </a:p>
        </p:txBody>
      </p:sp>
      <p:sp>
        <p:nvSpPr>
          <p:cNvPr id="17" name="TextBox 16"/>
          <p:cNvSpPr txBox="1"/>
          <p:nvPr/>
        </p:nvSpPr>
        <p:spPr>
          <a:xfrm>
            <a:off x="2057400" y="3200400"/>
            <a:ext cx="1280160" cy="274320"/>
          </a:xfrm>
          <a:prstGeom prst="rect">
            <a:avLst/>
          </a:prstGeom>
          <a:noFill/>
        </p:spPr>
        <p:txBody>
          <a:bodyPr wrap="square" lIns="0" rIns="0" tIns="0" bIns="0" anchor="t">
            <a:spAutoFit/>
          </a:bodyPr>
          <a:lstStyle/>
          <a:p>
            <a:pPr algn="ctr"/>
            <a:r>
              <a:rPr sz="1400" b="1" i="0">
                <a:solidFill>
                  <a:srgbClr val="500000"/>
                </a:solidFill>
                <a:latin typeface="Arial"/>
              </a:rPr>
              <a:t>MACE</a:t>
            </a:r>
          </a:p>
        </p:txBody>
      </p:sp>
      <p:sp>
        <p:nvSpPr>
          <p:cNvPr id="18" name="TextBox 17"/>
          <p:cNvSpPr txBox="1"/>
          <p:nvPr/>
        </p:nvSpPr>
        <p:spPr>
          <a:xfrm>
            <a:off x="3977639" y="2926080"/>
            <a:ext cx="1097280" cy="274320"/>
          </a:xfrm>
          <a:prstGeom prst="rect">
            <a:avLst/>
          </a:prstGeom>
          <a:noFill/>
        </p:spPr>
        <p:txBody>
          <a:bodyPr wrap="square" lIns="0" rIns="0" tIns="0" bIns="0" anchor="t">
            <a:spAutoFit/>
          </a:bodyPr>
          <a:lstStyle/>
          <a:p>
            <a:pPr algn="ctr"/>
            <a:r>
              <a:rPr sz="1300" b="1" i="0">
                <a:solidFill>
                  <a:srgbClr val="1E293B"/>
                </a:solidFill>
                <a:latin typeface="Arial"/>
              </a:rPr>
              <a:t>DFT</a:t>
            </a:r>
          </a:p>
        </p:txBody>
      </p:sp>
      <p:sp>
        <p:nvSpPr>
          <p:cNvPr id="19" name="TextBox 18"/>
          <p:cNvSpPr txBox="1"/>
          <p:nvPr/>
        </p:nvSpPr>
        <p:spPr>
          <a:xfrm>
            <a:off x="4846320" y="2377440"/>
            <a:ext cx="1280160" cy="457200"/>
          </a:xfrm>
          <a:prstGeom prst="rect">
            <a:avLst/>
          </a:prstGeom>
          <a:noFill/>
        </p:spPr>
        <p:txBody>
          <a:bodyPr wrap="square" lIns="0" rIns="0" tIns="0" bIns="0" anchor="t">
            <a:spAutoFit/>
          </a:bodyPr>
          <a:lstStyle/>
          <a:p>
            <a:pPr algn="ctr"/>
            <a:r>
              <a:rPr sz="1200" b="0" i="0">
                <a:solidFill>
                  <a:srgbClr val="64748B"/>
                </a:solidFill>
                <a:latin typeface="Arial"/>
              </a:rPr>
              <a:t>Coupled cluster</a:t>
            </a:r>
          </a:p>
        </p:txBody>
      </p:sp>
      <p:sp>
        <p:nvSpPr>
          <p:cNvPr id="20" name="Rounded Rectangle 19"/>
          <p:cNvSpPr/>
          <p:nvPr/>
        </p:nvSpPr>
        <p:spPr>
          <a:xfrm>
            <a:off x="3017520" y="3657600"/>
            <a:ext cx="2743200" cy="914400"/>
          </a:xfrm>
          <a:prstGeom prst="roundRect">
            <a:avLst>
              <a:gd name="adj" fmla="val 12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154680" y="3703320"/>
            <a:ext cx="2514600" cy="822960"/>
          </a:xfrm>
          <a:prstGeom prst="rect">
            <a:avLst/>
          </a:prstGeom>
          <a:noFill/>
        </p:spPr>
        <p:txBody>
          <a:bodyPr wrap="square" lIns="0" rIns="0" tIns="0" bIns="0" anchor="ctr">
            <a:spAutoFit/>
          </a:bodyPr>
          <a:lstStyle/>
          <a:p>
            <a:pPr algn="l"/>
            <a:r>
              <a:rPr sz="1300" b="1" i="0">
                <a:solidFill>
                  <a:srgbClr val="500000"/>
                </a:solidFill>
                <a:latin typeface="Arial"/>
              </a:rPr>
              <a:t>Sweet spot: </a:t>
            </a:r>
            <a:r>
              <a:rPr sz="1300" b="0" i="0">
                <a:solidFill>
                  <a:srgbClr val="1E293B"/>
                </a:solidFill>
                <a:latin typeface="Arial"/>
              </a:rPr>
              <a:t>near-DFT accuracy at a tiny fraction of the cost</a:t>
            </a:r>
          </a:p>
        </p:txBody>
      </p:sp>
      <p:graphicFrame>
        <p:nvGraphicFramePr>
          <p:cNvPr id="22" name="Chart 21"/>
          <p:cNvGraphicFramePr>
            <a:graphicFrameLocks noGrp="1"/>
          </p:cNvGraphicFramePr>
          <p:nvPr/>
        </p:nvGraphicFramePr>
        <p:xfrm>
          <a:off x="6492240" y="1691640"/>
          <a:ext cx="5166360" cy="3977639"/>
        </p:xfrm>
        <a:graphic>
          <a:graphicData uri="http://schemas.openxmlformats.org/drawingml/2006/chart">
            <c:chart xmlns:c="http://schemas.openxmlformats.org/drawingml/2006/chart" r:id="rId2"/>
          </a:graphicData>
        </a:graphic>
      </p:graphicFrame>
      <p:sp>
        <p:nvSpPr>
          <p:cNvPr id="23" name="Rounded Rectangle 22"/>
          <p:cNvSpPr/>
          <p:nvPr/>
        </p:nvSpPr>
        <p:spPr>
          <a:xfrm>
            <a:off x="9646920" y="2971800"/>
            <a:ext cx="1828800" cy="548640"/>
          </a:xfrm>
          <a:prstGeom prst="roundRect">
            <a:avLst>
              <a:gd name="adj" fmla="val 20000"/>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92640" y="3017520"/>
            <a:ext cx="1737360" cy="457200"/>
          </a:xfrm>
          <a:prstGeom prst="rect">
            <a:avLst/>
          </a:prstGeom>
          <a:noFill/>
        </p:spPr>
        <p:txBody>
          <a:bodyPr wrap="square" lIns="0" rIns="0" tIns="0" bIns="0" anchor="ctr">
            <a:spAutoFit/>
          </a:bodyPr>
          <a:lstStyle/>
          <a:p>
            <a:pPr algn="ctr"/>
            <a:r>
              <a:rPr sz="1500" b="1" i="0">
                <a:solidFill>
                  <a:srgbClr val="500000"/>
                </a:solidFill>
                <a:latin typeface="Arial"/>
              </a:rPr>
              <a:t>10⁹× gap</a:t>
            </a:r>
          </a:p>
          <a:p>
            <a:pPr algn="ctr"/>
            <a:r>
              <a:rPr sz="1000" b="0" i="0">
                <a:solidFill>
                  <a:srgbClr val="64748B"/>
                </a:solidFill>
                <a:latin typeface="Arial"/>
              </a:rPr>
              <a:t>at 10k atoms</a:t>
            </a:r>
          </a:p>
        </p:txBody>
      </p:sp>
      <p:sp>
        <p:nvSpPr>
          <p:cNvPr id="25" name="Rounded Rectangle 24"/>
          <p:cNvSpPr/>
          <p:nvPr/>
        </p:nvSpPr>
        <p:spPr>
          <a:xfrm>
            <a:off x="548640" y="5852160"/>
            <a:ext cx="11091672"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MACE scales linearly: big systems and long simulations become possible</a:t>
            </a:r>
          </a:p>
        </p:txBody>
      </p:sp>
      <p:sp>
        <p:nvSpPr>
          <p:cNvPr id="26" name="TextBox 25"/>
          <p:cNvSpPr txBox="1"/>
          <p:nvPr/>
        </p:nvSpPr>
        <p:spPr>
          <a:xfrm>
            <a:off x="548640" y="6428232"/>
            <a:ext cx="9601200" cy="228600"/>
          </a:xfrm>
          <a:prstGeom prst="rect">
            <a:avLst/>
          </a:prstGeom>
          <a:noFill/>
        </p:spPr>
        <p:txBody>
          <a:bodyPr wrap="square" lIns="0" rIns="0" tIns="0" bIns="0" anchor="t">
            <a:spAutoFit/>
          </a:bodyPr>
          <a:lstStyle/>
          <a:p>
            <a:pPr algn="l"/>
            <a:r>
              <a:rPr sz="900" b="0" i="0">
                <a:solidFill>
                  <a:srgbClr val="94A3B8"/>
                </a:solidFill>
                <a:latin typeface="Arial"/>
              </a:rPr>
              <a:t>Scaling curves are illustrative (DFT ~ O(N³), local ML potentials ~ O(N)); constants vary by code and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Forces are the slope of the energy</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Learn one function, the energy, and every force follows by differentiation</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04</a:t>
            </a:r>
          </a:p>
        </p:txBody>
      </p:sp>
      <p:pic>
        <p:nvPicPr>
          <p:cNvPr id="6" name="Picture 5" descr="pes.png"/>
          <p:cNvPicPr>
            <a:picLocks noChangeAspect="1"/>
          </p:cNvPicPr>
          <p:nvPr/>
        </p:nvPicPr>
        <p:blipFill>
          <a:blip r:embed="rId2"/>
          <a:stretch>
            <a:fillRect/>
          </a:stretch>
        </p:blipFill>
        <p:spPr>
          <a:xfrm>
            <a:off x="457200" y="1691640"/>
            <a:ext cx="5577840" cy="4009072"/>
          </a:xfrm>
          <a:prstGeom prst="rect">
            <a:avLst/>
          </a:prstGeom>
        </p:spPr>
      </p:pic>
      <p:sp>
        <p:nvSpPr>
          <p:cNvPr id="7" name="Rounded Rectangle 6"/>
          <p:cNvSpPr/>
          <p:nvPr/>
        </p:nvSpPr>
        <p:spPr>
          <a:xfrm>
            <a:off x="6355080" y="1783080"/>
            <a:ext cx="5303520" cy="1874519"/>
          </a:xfrm>
          <a:prstGeom prst="roundRect">
            <a:avLst>
              <a:gd name="adj" fmla="val 7317"/>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83680" y="2029968"/>
            <a:ext cx="1371600" cy="1371600"/>
          </a:xfrm>
          <a:prstGeom prst="ellipse">
            <a:avLst/>
          </a:prstGeom>
          <a:noFill/>
          <a:ln w="15875">
            <a:solidFill>
              <a:srgbClr val="5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98523" y="2771555"/>
            <a:ext cx="201168" cy="20116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996887" y="3087774"/>
            <a:ext cx="201168" cy="20116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782231" y="2474449"/>
            <a:ext cx="201168" cy="20116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40904" y="2142593"/>
            <a:ext cx="201168" cy="20116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340168" y="3001626"/>
            <a:ext cx="201168" cy="201168"/>
          </a:xfrm>
          <a:prstGeom prst="ellipse">
            <a:avLst/>
          </a:prstGeom>
          <a:solidFill>
            <a:srgbClr val="E2E8F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633928" y="1851170"/>
            <a:ext cx="201168" cy="201168"/>
          </a:xfrm>
          <a:prstGeom prst="ellipse">
            <a:avLst/>
          </a:prstGeom>
          <a:solidFill>
            <a:srgbClr val="E2E8F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123176" y="2569464"/>
            <a:ext cx="292608" cy="292608"/>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79208" y="1819656"/>
            <a:ext cx="731520" cy="228600"/>
          </a:xfrm>
          <a:prstGeom prst="rect">
            <a:avLst/>
          </a:prstGeom>
          <a:noFill/>
        </p:spPr>
        <p:txBody>
          <a:bodyPr wrap="square" lIns="0" rIns="0" tIns="0" bIns="0" anchor="t">
            <a:spAutoFit/>
          </a:bodyPr>
          <a:lstStyle/>
          <a:p>
            <a:pPr algn="l"/>
            <a:r>
              <a:rPr sz="1000" b="1" i="0">
                <a:solidFill>
                  <a:srgbClr val="500000"/>
                </a:solidFill>
                <a:latin typeface="Arial"/>
              </a:rPr>
              <a:t>r</a:t>
            </a:r>
            <a:r>
              <a:rPr sz="1000" b="1" i="0" baseline="-25000">
                <a:solidFill>
                  <a:srgbClr val="500000"/>
                </a:solidFill>
                <a:latin typeface="Arial"/>
              </a:rPr>
              <a:t>c</a:t>
            </a:r>
            <a:r>
              <a:rPr sz="1000" b="1" i="0">
                <a:solidFill>
                  <a:srgbClr val="500000"/>
                </a:solidFill>
                <a:latin typeface="Arial"/>
              </a:rPr>
              <a:t> ≈ 6 Å</a:t>
            </a:r>
          </a:p>
        </p:txBody>
      </p:sp>
      <p:sp>
        <p:nvSpPr>
          <p:cNvPr id="17" name="TextBox 16"/>
          <p:cNvSpPr txBox="1"/>
          <p:nvPr/>
        </p:nvSpPr>
        <p:spPr>
          <a:xfrm>
            <a:off x="8275320" y="2011680"/>
            <a:ext cx="3291840" cy="502920"/>
          </a:xfrm>
          <a:prstGeom prst="rect">
            <a:avLst/>
          </a:prstGeom>
          <a:noFill/>
        </p:spPr>
        <p:txBody>
          <a:bodyPr wrap="square" lIns="0" rIns="0" tIns="0" bIns="0" anchor="t">
            <a:spAutoFit/>
          </a:bodyPr>
          <a:lstStyle/>
          <a:p>
            <a:pPr algn="l"/>
            <a:r>
              <a:rPr sz="1900" b="0" i="0">
                <a:solidFill>
                  <a:srgbClr val="1E293B"/>
                </a:solidFill>
                <a:latin typeface="Cambria Math"/>
              </a:rPr>
              <a:t>E = Σ</a:t>
            </a:r>
            <a:r>
              <a:rPr sz="1900" b="0" i="0" baseline="-25000">
                <a:solidFill>
                  <a:srgbClr val="1E293B"/>
                </a:solidFill>
                <a:latin typeface="Cambria Math"/>
              </a:rPr>
              <a:t>i</a:t>
            </a:r>
            <a:r>
              <a:rPr sz="1900" b="0" i="0">
                <a:solidFill>
                  <a:srgbClr val="1E293B"/>
                </a:solidFill>
                <a:latin typeface="Cambria Math"/>
              </a:rPr>
              <a:t> E</a:t>
            </a:r>
            <a:r>
              <a:rPr sz="1900" b="0" i="0" baseline="-25000">
                <a:solidFill>
                  <a:srgbClr val="1E293B"/>
                </a:solidFill>
                <a:latin typeface="Cambria Math"/>
              </a:rPr>
              <a:t>i</a:t>
            </a:r>
            <a:r>
              <a:rPr sz="1900" b="0" i="0">
                <a:solidFill>
                  <a:srgbClr val="1E293B"/>
                </a:solidFill>
                <a:latin typeface="Cambria Math"/>
              </a:rPr>
              <a:t>( neighbors within r</a:t>
            </a:r>
            <a:r>
              <a:rPr sz="1900" b="0" i="0" baseline="-25000">
                <a:solidFill>
                  <a:srgbClr val="1E293B"/>
                </a:solidFill>
                <a:latin typeface="Cambria Math"/>
              </a:rPr>
              <a:t>c</a:t>
            </a:r>
            <a:r>
              <a:rPr sz="1900" b="0" i="0">
                <a:solidFill>
                  <a:srgbClr val="1E293B"/>
                </a:solidFill>
                <a:latin typeface="Cambria Math"/>
              </a:rPr>
              <a:t> )</a:t>
            </a:r>
          </a:p>
        </p:txBody>
      </p:sp>
      <p:sp>
        <p:nvSpPr>
          <p:cNvPr id="18" name="TextBox 17"/>
          <p:cNvSpPr txBox="1"/>
          <p:nvPr/>
        </p:nvSpPr>
        <p:spPr>
          <a:xfrm>
            <a:off x="8275320" y="2697480"/>
            <a:ext cx="3246120" cy="822960"/>
          </a:xfrm>
          <a:prstGeom prst="rect">
            <a:avLst/>
          </a:prstGeom>
          <a:noFill/>
        </p:spPr>
        <p:txBody>
          <a:bodyPr wrap="square" lIns="0" rIns="0" tIns="0" bIns="0" anchor="t">
            <a:spAutoFit/>
          </a:bodyPr>
          <a:lstStyle/>
          <a:p>
            <a:pPr algn="l"/>
            <a:r>
              <a:rPr sz="1300" b="0" i="0">
                <a:solidFill>
                  <a:srgbClr val="64748B"/>
                </a:solidFill>
                <a:latin typeface="Arial"/>
              </a:rPr>
              <a:t>Total energy is a sum of local atomic contributions, so cost grows linearly</a:t>
            </a:r>
          </a:p>
        </p:txBody>
      </p:sp>
      <p:sp>
        <p:nvSpPr>
          <p:cNvPr id="19" name="Rounded Rectangle 18"/>
          <p:cNvSpPr/>
          <p:nvPr/>
        </p:nvSpPr>
        <p:spPr>
          <a:xfrm>
            <a:off x="6355080" y="3840480"/>
            <a:ext cx="5303520" cy="1874519"/>
          </a:xfrm>
          <a:prstGeom prst="roundRect">
            <a:avLst>
              <a:gd name="adj" fmla="val 7317"/>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766560" y="4270248"/>
            <a:ext cx="1005840" cy="100584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Cambria Math"/>
              </a:rPr>
              <a:t>−∇E</a:t>
            </a:r>
          </a:p>
        </p:txBody>
      </p:sp>
      <p:sp>
        <p:nvSpPr>
          <p:cNvPr id="21" name="TextBox 20"/>
          <p:cNvSpPr txBox="1"/>
          <p:nvPr/>
        </p:nvSpPr>
        <p:spPr>
          <a:xfrm>
            <a:off x="8275320" y="4069080"/>
            <a:ext cx="3291840" cy="502920"/>
          </a:xfrm>
          <a:prstGeom prst="rect">
            <a:avLst/>
          </a:prstGeom>
          <a:noFill/>
        </p:spPr>
        <p:txBody>
          <a:bodyPr wrap="square" lIns="0" rIns="0" tIns="0" bIns="0" anchor="t">
            <a:spAutoFit/>
          </a:bodyPr>
          <a:lstStyle/>
          <a:p>
            <a:pPr algn="l"/>
            <a:r>
              <a:rPr sz="2200" b="0" i="0">
                <a:solidFill>
                  <a:srgbClr val="1E293B"/>
                </a:solidFill>
                <a:latin typeface="Cambria Math"/>
              </a:rPr>
              <a:t>F</a:t>
            </a:r>
            <a:r>
              <a:rPr sz="2200" b="0" i="0" baseline="-25000">
                <a:solidFill>
                  <a:srgbClr val="1E293B"/>
                </a:solidFill>
                <a:latin typeface="Cambria Math"/>
              </a:rPr>
              <a:t>i</a:t>
            </a:r>
            <a:r>
              <a:rPr sz="2200" b="0" i="0">
                <a:solidFill>
                  <a:srgbClr val="1E293B"/>
                </a:solidFill>
                <a:latin typeface="Cambria Math"/>
              </a:rPr>
              <a:t> = − ∂E / ∂r</a:t>
            </a:r>
            <a:r>
              <a:rPr sz="2200" b="0" i="0" baseline="-25000">
                <a:solidFill>
                  <a:srgbClr val="1E293B"/>
                </a:solidFill>
                <a:latin typeface="Cambria Math"/>
              </a:rPr>
              <a:t>i</a:t>
            </a:r>
          </a:p>
        </p:txBody>
      </p:sp>
      <p:sp>
        <p:nvSpPr>
          <p:cNvPr id="22" name="TextBox 21"/>
          <p:cNvSpPr txBox="1"/>
          <p:nvPr/>
        </p:nvSpPr>
        <p:spPr>
          <a:xfrm>
            <a:off x="8275320" y="4754880"/>
            <a:ext cx="3246120" cy="822960"/>
          </a:xfrm>
          <a:prstGeom prst="rect">
            <a:avLst/>
          </a:prstGeom>
          <a:noFill/>
        </p:spPr>
        <p:txBody>
          <a:bodyPr wrap="square" lIns="0" rIns="0" tIns="0" bIns="0" anchor="t">
            <a:spAutoFit/>
          </a:bodyPr>
          <a:lstStyle/>
          <a:p>
            <a:pPr algn="l"/>
            <a:r>
              <a:rPr sz="1300" b="0" i="0">
                <a:solidFill>
                  <a:srgbClr val="64748B"/>
                </a:solidFill>
                <a:latin typeface="Arial"/>
              </a:rPr>
              <a:t>Forces by automatic differentiation: energy is conserved, so dynamics stay stable</a:t>
            </a:r>
          </a:p>
        </p:txBody>
      </p:sp>
      <p:sp>
        <p:nvSpPr>
          <p:cNvPr id="23" name="Rounded Rectangle 22"/>
          <p:cNvSpPr/>
          <p:nvPr/>
        </p:nvSpPr>
        <p:spPr>
          <a:xfrm>
            <a:off x="548640" y="5852160"/>
            <a:ext cx="11091672"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Train on DFT energies + forces  →  predict both for brand-new structures in milliseconds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Inside MACE: many-body equivariant messages</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A graph neural network where atoms are nodes and neighbors within r</a:t>
            </a:r>
            <a:r>
              <a:rPr sz="1500" b="0" i="1" baseline="-25000">
                <a:solidFill>
                  <a:srgbClr val="64748B"/>
                </a:solidFill>
                <a:latin typeface="Arial"/>
              </a:rPr>
              <a:t>c</a:t>
            </a:r>
            <a:r>
              <a:rPr sz="1500" b="0" i="1">
                <a:solidFill>
                  <a:srgbClr val="64748B"/>
                </a:solidFill>
                <a:latin typeface="Arial"/>
              </a:rPr>
              <a:t> are edges</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05</a:t>
            </a:r>
          </a:p>
        </p:txBody>
      </p:sp>
      <p:sp>
        <p:nvSpPr>
          <p:cNvPr id="6" name="Rounded Rectangle 5"/>
          <p:cNvSpPr/>
          <p:nvPr/>
        </p:nvSpPr>
        <p:spPr>
          <a:xfrm>
            <a:off x="548640" y="1783080"/>
            <a:ext cx="2606040" cy="2697480"/>
          </a:xfrm>
          <a:prstGeom prst="roundRect">
            <a:avLst>
              <a:gd name="adj" fmla="val 5263"/>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22476" y="2002536"/>
            <a:ext cx="658368" cy="65836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1</a:t>
            </a:r>
          </a:p>
        </p:txBody>
      </p:sp>
      <p:sp>
        <p:nvSpPr>
          <p:cNvPr id="8" name="TextBox 7"/>
          <p:cNvSpPr txBox="1"/>
          <p:nvPr/>
        </p:nvSpPr>
        <p:spPr>
          <a:xfrm>
            <a:off x="685800" y="2834640"/>
            <a:ext cx="2331720" cy="320040"/>
          </a:xfrm>
          <a:prstGeom prst="rect">
            <a:avLst/>
          </a:prstGeom>
          <a:noFill/>
        </p:spPr>
        <p:txBody>
          <a:bodyPr wrap="square" lIns="0" rIns="0" tIns="0" bIns="0" anchor="t">
            <a:spAutoFit/>
          </a:bodyPr>
          <a:lstStyle/>
          <a:p>
            <a:pPr algn="ctr"/>
            <a:r>
              <a:rPr sz="1600" b="1" i="0">
                <a:solidFill>
                  <a:srgbClr val="500000"/>
                </a:solidFill>
                <a:latin typeface="Arial"/>
              </a:rPr>
              <a:t>Embed</a:t>
            </a:r>
          </a:p>
        </p:txBody>
      </p:sp>
      <p:sp>
        <p:nvSpPr>
          <p:cNvPr id="9" name="TextBox 8"/>
          <p:cNvSpPr txBox="1"/>
          <p:nvPr/>
        </p:nvSpPr>
        <p:spPr>
          <a:xfrm>
            <a:off x="658368" y="3246120"/>
            <a:ext cx="2386584" cy="457200"/>
          </a:xfrm>
          <a:prstGeom prst="rect">
            <a:avLst/>
          </a:prstGeom>
          <a:noFill/>
        </p:spPr>
        <p:txBody>
          <a:bodyPr wrap="square" lIns="0" rIns="0" tIns="0" bIns="0" anchor="t">
            <a:spAutoFit/>
          </a:bodyPr>
          <a:lstStyle/>
          <a:p>
            <a:pPr algn="ctr"/>
            <a:r>
              <a:rPr sz="1400" b="0" i="0">
                <a:solidFill>
                  <a:srgbClr val="1E293B"/>
                </a:solidFill>
                <a:latin typeface="Cambria Math"/>
              </a:rPr>
              <a:t>h</a:t>
            </a:r>
            <a:r>
              <a:rPr sz="1400" b="0" i="0" baseline="-25000">
                <a:solidFill>
                  <a:srgbClr val="1E293B"/>
                </a:solidFill>
                <a:latin typeface="Cambria Math"/>
              </a:rPr>
              <a:t>j</a:t>
            </a:r>
            <a:r>
              <a:rPr sz="1400" b="0" i="0">
                <a:solidFill>
                  <a:srgbClr val="1E293B"/>
                </a:solidFill>
                <a:latin typeface="Cambria Math"/>
              </a:rPr>
              <a:t> = W · onehot(Z</a:t>
            </a:r>
            <a:r>
              <a:rPr sz="1400" b="0" i="0" baseline="-25000">
                <a:solidFill>
                  <a:srgbClr val="1E293B"/>
                </a:solidFill>
                <a:latin typeface="Cambria Math"/>
              </a:rPr>
              <a:t>j</a:t>
            </a:r>
            <a:r>
              <a:rPr sz="1400" b="0" i="0">
                <a:solidFill>
                  <a:srgbClr val="1E293B"/>
                </a:solidFill>
                <a:latin typeface="Cambria Math"/>
              </a:rPr>
              <a:t>)</a:t>
            </a:r>
          </a:p>
        </p:txBody>
      </p:sp>
      <p:sp>
        <p:nvSpPr>
          <p:cNvPr id="10" name="TextBox 9"/>
          <p:cNvSpPr txBox="1"/>
          <p:nvPr/>
        </p:nvSpPr>
        <p:spPr>
          <a:xfrm>
            <a:off x="731520" y="3749039"/>
            <a:ext cx="2240280" cy="594360"/>
          </a:xfrm>
          <a:prstGeom prst="rect">
            <a:avLst/>
          </a:prstGeom>
          <a:noFill/>
        </p:spPr>
        <p:txBody>
          <a:bodyPr wrap="square" lIns="0" rIns="0" tIns="0" bIns="0" anchor="t">
            <a:spAutoFit/>
          </a:bodyPr>
          <a:lstStyle/>
          <a:p>
            <a:pPr algn="ctr"/>
            <a:r>
              <a:rPr sz="1200" b="0" i="0">
                <a:solidFill>
                  <a:srgbClr val="64748B"/>
                </a:solidFill>
                <a:latin typeface="Arial"/>
              </a:rPr>
              <a:t>each element becomes a learned vector</a:t>
            </a:r>
          </a:p>
        </p:txBody>
      </p:sp>
      <p:cxnSp>
        <p:nvCxnSpPr>
          <p:cNvPr id="11" name="Connector 10"/>
          <p:cNvCxnSpPr/>
          <p:nvPr/>
        </p:nvCxnSpPr>
        <p:spPr>
          <a:xfrm>
            <a:off x="3182112" y="3127248"/>
            <a:ext cx="173736" cy="0"/>
          </a:xfrm>
          <a:prstGeom prst="line">
            <a:avLst/>
          </a:prstGeom>
          <a:ln w="2857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83280" y="1783080"/>
            <a:ext cx="2606040" cy="2697480"/>
          </a:xfrm>
          <a:prstGeom prst="roundRect">
            <a:avLst>
              <a:gd name="adj" fmla="val 5263"/>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57116" y="2002536"/>
            <a:ext cx="658368" cy="65836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2</a:t>
            </a:r>
          </a:p>
        </p:txBody>
      </p:sp>
      <p:sp>
        <p:nvSpPr>
          <p:cNvPr id="14" name="TextBox 13"/>
          <p:cNvSpPr txBox="1"/>
          <p:nvPr/>
        </p:nvSpPr>
        <p:spPr>
          <a:xfrm>
            <a:off x="3520440" y="2834640"/>
            <a:ext cx="2331720" cy="320040"/>
          </a:xfrm>
          <a:prstGeom prst="rect">
            <a:avLst/>
          </a:prstGeom>
          <a:noFill/>
        </p:spPr>
        <p:txBody>
          <a:bodyPr wrap="square" lIns="0" rIns="0" tIns="0" bIns="0" anchor="t">
            <a:spAutoFit/>
          </a:bodyPr>
          <a:lstStyle/>
          <a:p>
            <a:pPr algn="ctr"/>
            <a:r>
              <a:rPr sz="1600" b="1" i="0">
                <a:solidFill>
                  <a:srgbClr val="500000"/>
                </a:solidFill>
                <a:latin typeface="Arial"/>
              </a:rPr>
              <a:t>Neighbor basis</a:t>
            </a:r>
          </a:p>
        </p:txBody>
      </p:sp>
      <p:sp>
        <p:nvSpPr>
          <p:cNvPr id="15" name="TextBox 14"/>
          <p:cNvSpPr txBox="1"/>
          <p:nvPr/>
        </p:nvSpPr>
        <p:spPr>
          <a:xfrm>
            <a:off x="3493008" y="3246120"/>
            <a:ext cx="2386584" cy="457200"/>
          </a:xfrm>
          <a:prstGeom prst="rect">
            <a:avLst/>
          </a:prstGeom>
          <a:noFill/>
        </p:spPr>
        <p:txBody>
          <a:bodyPr wrap="square" lIns="0" rIns="0" tIns="0" bIns="0" anchor="t">
            <a:spAutoFit/>
          </a:bodyPr>
          <a:lstStyle/>
          <a:p>
            <a:pPr algn="ctr"/>
            <a:r>
              <a:rPr sz="1400" b="0" i="0">
                <a:solidFill>
                  <a:srgbClr val="1E293B"/>
                </a:solidFill>
                <a:latin typeface="Cambria Math"/>
              </a:rPr>
              <a:t>A</a:t>
            </a:r>
            <a:r>
              <a:rPr sz="1400" b="0" i="0" baseline="-25000">
                <a:solidFill>
                  <a:srgbClr val="1E293B"/>
                </a:solidFill>
                <a:latin typeface="Cambria Math"/>
              </a:rPr>
              <a:t>i</a:t>
            </a:r>
            <a:r>
              <a:rPr sz="1400" b="0" i="0">
                <a:solidFill>
                  <a:srgbClr val="1E293B"/>
                </a:solidFill>
                <a:latin typeface="Cambria Math"/>
              </a:rPr>
              <a:t> = Σ</a:t>
            </a:r>
            <a:r>
              <a:rPr sz="1400" b="0" i="0" baseline="-25000">
                <a:solidFill>
                  <a:srgbClr val="1E293B"/>
                </a:solidFill>
                <a:latin typeface="Cambria Math"/>
              </a:rPr>
              <a:t>j</a:t>
            </a:r>
            <a:r>
              <a:rPr sz="1400" b="0" i="0">
                <a:solidFill>
                  <a:srgbClr val="1E293B"/>
                </a:solidFill>
                <a:latin typeface="Cambria Math"/>
              </a:rPr>
              <a:t> R(r</a:t>
            </a:r>
            <a:r>
              <a:rPr sz="1400" b="0" i="0" baseline="-25000">
                <a:solidFill>
                  <a:srgbClr val="1E293B"/>
                </a:solidFill>
                <a:latin typeface="Cambria Math"/>
              </a:rPr>
              <a:t>ij</a:t>
            </a:r>
            <a:r>
              <a:rPr sz="1400" b="0" i="0">
                <a:solidFill>
                  <a:srgbClr val="1E293B"/>
                </a:solidFill>
                <a:latin typeface="Cambria Math"/>
              </a:rPr>
              <a:t>) Y</a:t>
            </a:r>
            <a:r>
              <a:rPr sz="1400" b="0" i="0" baseline="-25000">
                <a:solidFill>
                  <a:srgbClr val="1E293B"/>
                </a:solidFill>
                <a:latin typeface="Cambria Math"/>
              </a:rPr>
              <a:t>lm</a:t>
            </a:r>
            <a:r>
              <a:rPr sz="1400" b="0" i="0">
                <a:solidFill>
                  <a:srgbClr val="1E293B"/>
                </a:solidFill>
                <a:latin typeface="Cambria Math"/>
              </a:rPr>
              <a:t>(r̂</a:t>
            </a:r>
            <a:r>
              <a:rPr sz="1400" b="0" i="0" baseline="-25000">
                <a:solidFill>
                  <a:srgbClr val="1E293B"/>
                </a:solidFill>
                <a:latin typeface="Cambria Math"/>
              </a:rPr>
              <a:t>ij</a:t>
            </a:r>
            <a:r>
              <a:rPr sz="1400" b="0" i="0">
                <a:solidFill>
                  <a:srgbClr val="1E293B"/>
                </a:solidFill>
                <a:latin typeface="Cambria Math"/>
              </a:rPr>
              <a:t>) h</a:t>
            </a:r>
            <a:r>
              <a:rPr sz="1400" b="0" i="0" baseline="-25000">
                <a:solidFill>
                  <a:srgbClr val="1E293B"/>
                </a:solidFill>
                <a:latin typeface="Cambria Math"/>
              </a:rPr>
              <a:t>j</a:t>
            </a:r>
          </a:p>
        </p:txBody>
      </p:sp>
      <p:sp>
        <p:nvSpPr>
          <p:cNvPr id="16" name="TextBox 15"/>
          <p:cNvSpPr txBox="1"/>
          <p:nvPr/>
        </p:nvSpPr>
        <p:spPr>
          <a:xfrm>
            <a:off x="3566160" y="3749039"/>
            <a:ext cx="2240280" cy="594360"/>
          </a:xfrm>
          <a:prstGeom prst="rect">
            <a:avLst/>
          </a:prstGeom>
          <a:noFill/>
        </p:spPr>
        <p:txBody>
          <a:bodyPr wrap="square" lIns="0" rIns="0" tIns="0" bIns="0" anchor="t">
            <a:spAutoFit/>
          </a:bodyPr>
          <a:lstStyle/>
          <a:p>
            <a:pPr algn="ctr"/>
            <a:r>
              <a:rPr sz="1200" b="0" i="0">
                <a:solidFill>
                  <a:srgbClr val="64748B"/>
                </a:solidFill>
                <a:latin typeface="Arial"/>
              </a:rPr>
              <a:t>distance × direction (spherical harmonics)</a:t>
            </a:r>
          </a:p>
        </p:txBody>
      </p:sp>
      <p:cxnSp>
        <p:nvCxnSpPr>
          <p:cNvPr id="17" name="Connector 16"/>
          <p:cNvCxnSpPr/>
          <p:nvPr/>
        </p:nvCxnSpPr>
        <p:spPr>
          <a:xfrm>
            <a:off x="6016752" y="3127248"/>
            <a:ext cx="173736" cy="0"/>
          </a:xfrm>
          <a:prstGeom prst="line">
            <a:avLst/>
          </a:prstGeom>
          <a:ln w="2857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17920" y="1783080"/>
            <a:ext cx="2606040" cy="2697480"/>
          </a:xfrm>
          <a:prstGeom prst="roundRect">
            <a:avLst>
              <a:gd name="adj" fmla="val 5263"/>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91755" y="2002536"/>
            <a:ext cx="658368" cy="65836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3</a:t>
            </a:r>
          </a:p>
        </p:txBody>
      </p:sp>
      <p:sp>
        <p:nvSpPr>
          <p:cNvPr id="20" name="TextBox 19"/>
          <p:cNvSpPr txBox="1"/>
          <p:nvPr/>
        </p:nvSpPr>
        <p:spPr>
          <a:xfrm>
            <a:off x="6355080" y="2834640"/>
            <a:ext cx="2331720" cy="320040"/>
          </a:xfrm>
          <a:prstGeom prst="rect">
            <a:avLst/>
          </a:prstGeom>
          <a:noFill/>
        </p:spPr>
        <p:txBody>
          <a:bodyPr wrap="square" lIns="0" rIns="0" tIns="0" bIns="0" anchor="t">
            <a:spAutoFit/>
          </a:bodyPr>
          <a:lstStyle/>
          <a:p>
            <a:pPr algn="ctr"/>
            <a:r>
              <a:rPr sz="1600" b="1" i="0">
                <a:solidFill>
                  <a:srgbClr val="500000"/>
                </a:solidFill>
                <a:latin typeface="Arial"/>
              </a:rPr>
              <a:t>Many-body product</a:t>
            </a:r>
          </a:p>
        </p:txBody>
      </p:sp>
      <p:sp>
        <p:nvSpPr>
          <p:cNvPr id="21" name="TextBox 20"/>
          <p:cNvSpPr txBox="1"/>
          <p:nvPr/>
        </p:nvSpPr>
        <p:spPr>
          <a:xfrm>
            <a:off x="6327648" y="3246120"/>
            <a:ext cx="2386584" cy="457200"/>
          </a:xfrm>
          <a:prstGeom prst="rect">
            <a:avLst/>
          </a:prstGeom>
          <a:noFill/>
        </p:spPr>
        <p:txBody>
          <a:bodyPr wrap="square" lIns="0" rIns="0" tIns="0" bIns="0" anchor="t">
            <a:spAutoFit/>
          </a:bodyPr>
          <a:lstStyle/>
          <a:p>
            <a:pPr algn="ctr"/>
            <a:r>
              <a:rPr sz="1400" b="0" i="0">
                <a:solidFill>
                  <a:srgbClr val="1E293B"/>
                </a:solidFill>
                <a:latin typeface="Cambria Math"/>
              </a:rPr>
              <a:t>B</a:t>
            </a:r>
            <a:r>
              <a:rPr sz="1400" b="0" i="0" baseline="-25000">
                <a:solidFill>
                  <a:srgbClr val="1E293B"/>
                </a:solidFill>
                <a:latin typeface="Cambria Math"/>
              </a:rPr>
              <a:t>i</a:t>
            </a:r>
            <a:r>
              <a:rPr sz="1400" b="0" i="0">
                <a:solidFill>
                  <a:srgbClr val="1E293B"/>
                </a:solidFill>
                <a:latin typeface="Cambria Math"/>
              </a:rPr>
              <a:t> = A</a:t>
            </a:r>
            <a:r>
              <a:rPr sz="1400" b="0" i="0" baseline="-25000">
                <a:solidFill>
                  <a:srgbClr val="1E293B"/>
                </a:solidFill>
                <a:latin typeface="Cambria Math"/>
              </a:rPr>
              <a:t>i</a:t>
            </a:r>
            <a:r>
              <a:rPr sz="1400" b="0" i="0">
                <a:solidFill>
                  <a:srgbClr val="1E293B"/>
                </a:solidFill>
                <a:latin typeface="Cambria Math"/>
              </a:rPr>
              <a:t> ⊗ A</a:t>
            </a:r>
            <a:r>
              <a:rPr sz="1400" b="0" i="0" baseline="-25000">
                <a:solidFill>
                  <a:srgbClr val="1E293B"/>
                </a:solidFill>
                <a:latin typeface="Cambria Math"/>
              </a:rPr>
              <a:t>i</a:t>
            </a:r>
            <a:r>
              <a:rPr sz="1400" b="0" i="0">
                <a:solidFill>
                  <a:srgbClr val="1E293B"/>
                </a:solidFill>
                <a:latin typeface="Cambria Math"/>
              </a:rPr>
              <a:t> ⊗ A</a:t>
            </a:r>
            <a:r>
              <a:rPr sz="1400" b="0" i="0" baseline="-25000">
                <a:solidFill>
                  <a:srgbClr val="1E293B"/>
                </a:solidFill>
                <a:latin typeface="Cambria Math"/>
              </a:rPr>
              <a:t>i</a:t>
            </a:r>
          </a:p>
        </p:txBody>
      </p:sp>
      <p:sp>
        <p:nvSpPr>
          <p:cNvPr id="22" name="TextBox 21"/>
          <p:cNvSpPr txBox="1"/>
          <p:nvPr/>
        </p:nvSpPr>
        <p:spPr>
          <a:xfrm>
            <a:off x="6400800" y="3749039"/>
            <a:ext cx="2240280" cy="594360"/>
          </a:xfrm>
          <a:prstGeom prst="rect">
            <a:avLst/>
          </a:prstGeom>
          <a:noFill/>
        </p:spPr>
        <p:txBody>
          <a:bodyPr wrap="square" lIns="0" rIns="0" tIns="0" bIns="0" anchor="t">
            <a:spAutoFit/>
          </a:bodyPr>
          <a:lstStyle/>
          <a:p>
            <a:pPr algn="ctr"/>
            <a:r>
              <a:rPr sz="1200" b="0" i="0">
                <a:solidFill>
                  <a:srgbClr val="64748B"/>
                </a:solidFill>
                <a:latin typeface="Arial"/>
              </a:rPr>
              <a:t>tensor products build 4-body terms in one step</a:t>
            </a:r>
          </a:p>
        </p:txBody>
      </p:sp>
      <p:cxnSp>
        <p:nvCxnSpPr>
          <p:cNvPr id="23" name="Connector 22"/>
          <p:cNvCxnSpPr/>
          <p:nvPr/>
        </p:nvCxnSpPr>
        <p:spPr>
          <a:xfrm>
            <a:off x="8851392" y="3127248"/>
            <a:ext cx="173736" cy="0"/>
          </a:xfrm>
          <a:prstGeom prst="line">
            <a:avLst/>
          </a:prstGeom>
          <a:ln w="2857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52560" y="1783080"/>
            <a:ext cx="2606040" cy="2697480"/>
          </a:xfrm>
          <a:prstGeom prst="roundRect">
            <a:avLst>
              <a:gd name="adj" fmla="val 5263"/>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026396" y="2002536"/>
            <a:ext cx="658368" cy="65836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4</a:t>
            </a:r>
          </a:p>
        </p:txBody>
      </p:sp>
      <p:sp>
        <p:nvSpPr>
          <p:cNvPr id="26" name="TextBox 25"/>
          <p:cNvSpPr txBox="1"/>
          <p:nvPr/>
        </p:nvSpPr>
        <p:spPr>
          <a:xfrm>
            <a:off x="9189720" y="2834640"/>
            <a:ext cx="2331720" cy="320040"/>
          </a:xfrm>
          <a:prstGeom prst="rect">
            <a:avLst/>
          </a:prstGeom>
          <a:noFill/>
        </p:spPr>
        <p:txBody>
          <a:bodyPr wrap="square" lIns="0" rIns="0" tIns="0" bIns="0" anchor="t">
            <a:spAutoFit/>
          </a:bodyPr>
          <a:lstStyle/>
          <a:p>
            <a:pPr algn="ctr"/>
            <a:r>
              <a:rPr sz="1600" b="1" i="0">
                <a:solidFill>
                  <a:srgbClr val="500000"/>
                </a:solidFill>
                <a:latin typeface="Arial"/>
              </a:rPr>
              <a:t>Update + readout</a:t>
            </a:r>
          </a:p>
        </p:txBody>
      </p:sp>
      <p:sp>
        <p:nvSpPr>
          <p:cNvPr id="27" name="TextBox 26"/>
          <p:cNvSpPr txBox="1"/>
          <p:nvPr/>
        </p:nvSpPr>
        <p:spPr>
          <a:xfrm>
            <a:off x="9162288" y="3246120"/>
            <a:ext cx="2386584" cy="457200"/>
          </a:xfrm>
          <a:prstGeom prst="rect">
            <a:avLst/>
          </a:prstGeom>
          <a:noFill/>
        </p:spPr>
        <p:txBody>
          <a:bodyPr wrap="square" lIns="0" rIns="0" tIns="0" bIns="0" anchor="t">
            <a:spAutoFit/>
          </a:bodyPr>
          <a:lstStyle/>
          <a:p>
            <a:pPr algn="ctr"/>
            <a:r>
              <a:rPr sz="1400" b="0" i="0">
                <a:solidFill>
                  <a:srgbClr val="1E293B"/>
                </a:solidFill>
                <a:latin typeface="Cambria Math"/>
              </a:rPr>
              <a:t>E</a:t>
            </a:r>
            <a:r>
              <a:rPr sz="1400" b="0" i="0" baseline="-25000">
                <a:solidFill>
                  <a:srgbClr val="1E293B"/>
                </a:solidFill>
                <a:latin typeface="Cambria Math"/>
              </a:rPr>
              <a:t>i</a:t>
            </a:r>
            <a:r>
              <a:rPr sz="1400" b="0" i="0">
                <a:solidFill>
                  <a:srgbClr val="1E293B"/>
                </a:solidFill>
                <a:latin typeface="Cambria Math"/>
              </a:rPr>
              <a:t> = MLP(h</a:t>
            </a:r>
            <a:r>
              <a:rPr sz="1400" b="0" i="0" baseline="-25000">
                <a:solidFill>
                  <a:srgbClr val="1E293B"/>
                </a:solidFill>
                <a:latin typeface="Cambria Math"/>
              </a:rPr>
              <a:t>i</a:t>
            </a:r>
            <a:r>
              <a:rPr sz="1400" b="0" i="0" baseline="30000">
                <a:solidFill>
                  <a:srgbClr val="1E293B"/>
                </a:solidFill>
                <a:latin typeface="Cambria Math"/>
              </a:rPr>
              <a:t>(2)</a:t>
            </a:r>
            <a:r>
              <a:rPr sz="1400" b="0" i="0">
                <a:solidFill>
                  <a:srgbClr val="1E293B"/>
                </a:solidFill>
                <a:latin typeface="Cambria Math"/>
              </a:rPr>
              <a:t>)</a:t>
            </a:r>
          </a:p>
        </p:txBody>
      </p:sp>
      <p:sp>
        <p:nvSpPr>
          <p:cNvPr id="28" name="TextBox 27"/>
          <p:cNvSpPr txBox="1"/>
          <p:nvPr/>
        </p:nvSpPr>
        <p:spPr>
          <a:xfrm>
            <a:off x="9235440" y="3749039"/>
            <a:ext cx="2240280" cy="594360"/>
          </a:xfrm>
          <a:prstGeom prst="rect">
            <a:avLst/>
          </a:prstGeom>
          <a:noFill/>
        </p:spPr>
        <p:txBody>
          <a:bodyPr wrap="square" lIns="0" rIns="0" tIns="0" bIns="0" anchor="t">
            <a:spAutoFit/>
          </a:bodyPr>
          <a:lstStyle/>
          <a:p>
            <a:pPr algn="ctr"/>
            <a:r>
              <a:rPr sz="1200" b="0" i="0">
                <a:solidFill>
                  <a:srgbClr val="64748B"/>
                </a:solidFill>
                <a:latin typeface="Arial"/>
              </a:rPr>
              <a:t>two layers, then a per-atom energy</a:t>
            </a:r>
          </a:p>
        </p:txBody>
      </p:sp>
      <p:sp>
        <p:nvSpPr>
          <p:cNvPr id="29" name="Rounded Rectangle 28"/>
          <p:cNvSpPr/>
          <p:nvPr/>
        </p:nvSpPr>
        <p:spPr>
          <a:xfrm>
            <a:off x="548640" y="4754880"/>
            <a:ext cx="3566160" cy="1051560"/>
          </a:xfrm>
          <a:prstGeom prst="roundRect">
            <a:avLst>
              <a:gd name="adj" fmla="val 1304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40664" y="4924044"/>
            <a:ext cx="713232" cy="713232"/>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500000"/>
                </a:solidFill>
                <a:latin typeface="Cambria Math"/>
              </a:rPr>
              <a:t>E(3)</a:t>
            </a:r>
          </a:p>
        </p:txBody>
      </p:sp>
      <p:sp>
        <p:nvSpPr>
          <p:cNvPr id="31" name="TextBox 30"/>
          <p:cNvSpPr txBox="1"/>
          <p:nvPr/>
        </p:nvSpPr>
        <p:spPr>
          <a:xfrm>
            <a:off x="1600200" y="4873752"/>
            <a:ext cx="2423160" cy="320040"/>
          </a:xfrm>
          <a:prstGeom prst="rect">
            <a:avLst/>
          </a:prstGeom>
          <a:noFill/>
        </p:spPr>
        <p:txBody>
          <a:bodyPr wrap="square" lIns="0" rIns="0" tIns="0" bIns="0" anchor="t">
            <a:spAutoFit/>
          </a:bodyPr>
          <a:lstStyle/>
          <a:p>
            <a:pPr algn="l"/>
            <a:r>
              <a:rPr sz="1500" b="1" i="0">
                <a:solidFill>
                  <a:srgbClr val="1E293B"/>
                </a:solidFill>
                <a:latin typeface="Arial"/>
              </a:rPr>
              <a:t>Equivariant</a:t>
            </a:r>
          </a:p>
        </p:txBody>
      </p:sp>
      <p:sp>
        <p:nvSpPr>
          <p:cNvPr id="32" name="TextBox 31"/>
          <p:cNvSpPr txBox="1"/>
          <p:nvPr/>
        </p:nvSpPr>
        <p:spPr>
          <a:xfrm>
            <a:off x="1600200" y="5193792"/>
            <a:ext cx="2423160" cy="548640"/>
          </a:xfrm>
          <a:prstGeom prst="rect">
            <a:avLst/>
          </a:prstGeom>
          <a:noFill/>
        </p:spPr>
        <p:txBody>
          <a:bodyPr wrap="square" lIns="0" rIns="0" tIns="0" bIns="0" anchor="t">
            <a:spAutoFit/>
          </a:bodyPr>
          <a:lstStyle/>
          <a:p>
            <a:pPr algn="l"/>
            <a:r>
              <a:rPr sz="1200" b="0" i="0">
                <a:solidFill>
                  <a:srgbClr val="64748B"/>
                </a:solidFill>
                <a:latin typeface="Arial"/>
              </a:rPr>
              <a:t>rotate the molecule → forces rotate with it</a:t>
            </a:r>
          </a:p>
        </p:txBody>
      </p:sp>
      <p:sp>
        <p:nvSpPr>
          <p:cNvPr id="33" name="Rounded Rectangle 32"/>
          <p:cNvSpPr/>
          <p:nvPr/>
        </p:nvSpPr>
        <p:spPr>
          <a:xfrm>
            <a:off x="4315968" y="4754880"/>
            <a:ext cx="3566160" cy="1051560"/>
          </a:xfrm>
          <a:prstGeom prst="roundRect">
            <a:avLst>
              <a:gd name="adj" fmla="val 1304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4507992" y="4924044"/>
            <a:ext cx="713232" cy="713232"/>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500000"/>
                </a:solidFill>
                <a:latin typeface="Cambria Math"/>
              </a:rPr>
              <a:t>ν=3</a:t>
            </a:r>
          </a:p>
        </p:txBody>
      </p:sp>
      <p:sp>
        <p:nvSpPr>
          <p:cNvPr id="35" name="TextBox 34"/>
          <p:cNvSpPr txBox="1"/>
          <p:nvPr/>
        </p:nvSpPr>
        <p:spPr>
          <a:xfrm>
            <a:off x="5367527" y="4873752"/>
            <a:ext cx="2423160" cy="320040"/>
          </a:xfrm>
          <a:prstGeom prst="rect">
            <a:avLst/>
          </a:prstGeom>
          <a:noFill/>
        </p:spPr>
        <p:txBody>
          <a:bodyPr wrap="square" lIns="0" rIns="0" tIns="0" bIns="0" anchor="t">
            <a:spAutoFit/>
          </a:bodyPr>
          <a:lstStyle/>
          <a:p>
            <a:pPr algn="l"/>
            <a:r>
              <a:rPr sz="1500" b="1" i="0">
                <a:solidFill>
                  <a:srgbClr val="1E293B"/>
                </a:solidFill>
                <a:latin typeface="Arial"/>
              </a:rPr>
              <a:t>High body order</a:t>
            </a:r>
          </a:p>
        </p:txBody>
      </p:sp>
      <p:sp>
        <p:nvSpPr>
          <p:cNvPr id="36" name="TextBox 35"/>
          <p:cNvSpPr txBox="1"/>
          <p:nvPr/>
        </p:nvSpPr>
        <p:spPr>
          <a:xfrm>
            <a:off x="5367527" y="5193792"/>
            <a:ext cx="2423160" cy="548640"/>
          </a:xfrm>
          <a:prstGeom prst="rect">
            <a:avLst/>
          </a:prstGeom>
          <a:noFill/>
        </p:spPr>
        <p:txBody>
          <a:bodyPr wrap="square" lIns="0" rIns="0" tIns="0" bIns="0" anchor="t">
            <a:spAutoFit/>
          </a:bodyPr>
          <a:lstStyle/>
          <a:p>
            <a:pPr algn="l"/>
            <a:r>
              <a:rPr sz="1200" b="0" i="0">
                <a:solidFill>
                  <a:srgbClr val="64748B"/>
                </a:solidFill>
                <a:latin typeface="Arial"/>
              </a:rPr>
              <a:t>rich physics with only 2 layers</a:t>
            </a:r>
          </a:p>
        </p:txBody>
      </p:sp>
      <p:sp>
        <p:nvSpPr>
          <p:cNvPr id="37" name="Rounded Rectangle 36"/>
          <p:cNvSpPr/>
          <p:nvPr/>
        </p:nvSpPr>
        <p:spPr>
          <a:xfrm>
            <a:off x="8083296" y="4754880"/>
            <a:ext cx="3566160" cy="1051560"/>
          </a:xfrm>
          <a:prstGeom prst="roundRect">
            <a:avLst>
              <a:gd name="adj" fmla="val 1304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275319" y="4924044"/>
            <a:ext cx="713232" cy="713232"/>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500000"/>
                </a:solidFill>
                <a:latin typeface="Cambria Math"/>
              </a:rPr>
              <a:t>2L</a:t>
            </a:r>
          </a:p>
        </p:txBody>
      </p:sp>
      <p:sp>
        <p:nvSpPr>
          <p:cNvPr id="39" name="TextBox 38"/>
          <p:cNvSpPr txBox="1"/>
          <p:nvPr/>
        </p:nvSpPr>
        <p:spPr>
          <a:xfrm>
            <a:off x="9134856" y="4873752"/>
            <a:ext cx="2423160" cy="320040"/>
          </a:xfrm>
          <a:prstGeom prst="rect">
            <a:avLst/>
          </a:prstGeom>
          <a:noFill/>
        </p:spPr>
        <p:txBody>
          <a:bodyPr wrap="square" lIns="0" rIns="0" tIns="0" bIns="0" anchor="t">
            <a:spAutoFit/>
          </a:bodyPr>
          <a:lstStyle/>
          <a:p>
            <a:pPr algn="l"/>
            <a:r>
              <a:rPr sz="1500" b="1" i="0">
                <a:solidFill>
                  <a:srgbClr val="1E293B"/>
                </a:solidFill>
                <a:latin typeface="Arial"/>
              </a:rPr>
              <a:t>Small + fast</a:t>
            </a:r>
          </a:p>
        </p:txBody>
      </p:sp>
      <p:sp>
        <p:nvSpPr>
          <p:cNvPr id="40" name="TextBox 39"/>
          <p:cNvSpPr txBox="1"/>
          <p:nvPr/>
        </p:nvSpPr>
        <p:spPr>
          <a:xfrm>
            <a:off x="9134856" y="5193792"/>
            <a:ext cx="2423160" cy="548640"/>
          </a:xfrm>
          <a:prstGeom prst="rect">
            <a:avLst/>
          </a:prstGeom>
          <a:noFill/>
        </p:spPr>
        <p:txBody>
          <a:bodyPr wrap="square" lIns="0" rIns="0" tIns="0" bIns="0" anchor="t">
            <a:spAutoFit/>
          </a:bodyPr>
          <a:lstStyle/>
          <a:p>
            <a:pPr algn="l"/>
            <a:r>
              <a:rPr sz="1200" b="0" i="0">
                <a:solidFill>
                  <a:srgbClr val="64748B"/>
                </a:solidFill>
                <a:latin typeface="Arial"/>
              </a:rPr>
              <a:t>local, parallel, GPU-friendly</a:t>
            </a:r>
          </a:p>
        </p:txBody>
      </p:sp>
      <p:sp>
        <p:nvSpPr>
          <p:cNvPr id="41" name="TextBox 40"/>
          <p:cNvSpPr txBox="1"/>
          <p:nvPr/>
        </p:nvSpPr>
        <p:spPr>
          <a:xfrm>
            <a:off x="548640" y="6428232"/>
            <a:ext cx="9601200" cy="228600"/>
          </a:xfrm>
          <a:prstGeom prst="rect">
            <a:avLst/>
          </a:prstGeom>
          <a:noFill/>
        </p:spPr>
        <p:txBody>
          <a:bodyPr wrap="square" lIns="0" rIns="0" tIns="0" bIns="0" anchor="t">
            <a:spAutoFit/>
          </a:bodyPr>
          <a:lstStyle/>
          <a:p>
            <a:pPr algn="l"/>
            <a:r>
              <a:rPr sz="900" b="0" i="0">
                <a:solidFill>
                  <a:srgbClr val="94A3B8"/>
                </a:solidFill>
                <a:latin typeface="Arial"/>
              </a:rPr>
              <a:t>Batatia, Kovács, Simm, Ortner, Csányi, “MACE: Higher Order Equivariant Message Passing Neural Networks,” NeurIPS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MACE as the agent's physics tool</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The LLM plans and reasons; MACE answers “what would the atoms do?” in milliseconds</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06</a:t>
            </a:r>
          </a:p>
        </p:txBody>
      </p:sp>
      <p:sp>
        <p:nvSpPr>
          <p:cNvPr id="6" name="Oval 5"/>
          <p:cNvSpPr/>
          <p:nvPr/>
        </p:nvSpPr>
        <p:spPr>
          <a:xfrm>
            <a:off x="2766060" y="3131820"/>
            <a:ext cx="1325880" cy="1325880"/>
          </a:xfrm>
          <a:prstGeom prst="ellipse">
            <a:avLst/>
          </a:prstGeom>
          <a:solidFill>
            <a:srgbClr val="FFFFFF"/>
          </a:solidFill>
          <a:ln w="25400">
            <a:solidFill>
              <a:srgbClr val="5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800" b="1" i="0">
                <a:solidFill>
                  <a:srgbClr val="500000"/>
                </a:solidFill>
                <a:latin typeface="Arial"/>
              </a:rPr>
              <a:t>LLM</a:t>
            </a:r>
          </a:p>
          <a:p>
            <a:pPr algn="ctr"/>
            <a:r>
              <a:rPr sz="1200" b="1" i="0">
                <a:solidFill>
                  <a:srgbClr val="500000"/>
                </a:solidFill>
                <a:latin typeface="Arial"/>
              </a:rPr>
              <a:t>agent</a:t>
            </a:r>
          </a:p>
        </p:txBody>
      </p:sp>
      <p:sp>
        <p:nvSpPr>
          <p:cNvPr id="7" name="Rounded Rectangle 6"/>
          <p:cNvSpPr/>
          <p:nvPr/>
        </p:nvSpPr>
        <p:spPr>
          <a:xfrm>
            <a:off x="2514600" y="173736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Plan</a:t>
            </a:r>
          </a:p>
          <a:p>
            <a:pPr algn="ctr"/>
            <a:r>
              <a:rPr sz="1000" b="0" i="0">
                <a:solidFill>
                  <a:srgbClr val="1E293B"/>
                </a:solidFill>
                <a:latin typeface="Arial"/>
              </a:rPr>
              <a:t>hypothesis</a:t>
            </a:r>
          </a:p>
        </p:txBody>
      </p:sp>
      <p:sp>
        <p:nvSpPr>
          <p:cNvPr id="8" name="Rounded Rectangle 7"/>
          <p:cNvSpPr/>
          <p:nvPr/>
        </p:nvSpPr>
        <p:spPr>
          <a:xfrm>
            <a:off x="452628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Build</a:t>
            </a:r>
          </a:p>
          <a:p>
            <a:pPr algn="ctr"/>
            <a:r>
              <a:rPr sz="1000" b="0" i="0">
                <a:solidFill>
                  <a:srgbClr val="1E293B"/>
                </a:solidFill>
                <a:latin typeface="Arial"/>
              </a:rPr>
              <a:t>ASE · pymatgen</a:t>
            </a:r>
          </a:p>
        </p:txBody>
      </p:sp>
      <p:sp>
        <p:nvSpPr>
          <p:cNvPr id="9" name="Rounded Rectangle 8"/>
          <p:cNvSpPr/>
          <p:nvPr/>
        </p:nvSpPr>
        <p:spPr>
          <a:xfrm>
            <a:off x="2514600" y="5120640"/>
            <a:ext cx="182880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Simulate</a:t>
            </a:r>
          </a:p>
          <a:p>
            <a:pPr algn="ctr"/>
            <a:r>
              <a:rPr sz="1000" b="0" i="0">
                <a:solidFill>
                  <a:srgbClr val="FFFFFF"/>
                </a:solidFill>
                <a:latin typeface="Arial"/>
              </a:rPr>
              <a:t>MACE: relax · MD</a:t>
            </a:r>
          </a:p>
        </p:txBody>
      </p:sp>
      <p:sp>
        <p:nvSpPr>
          <p:cNvPr id="10" name="Rounded Rectangle 9"/>
          <p:cNvSpPr/>
          <p:nvPr/>
        </p:nvSpPr>
        <p:spPr>
          <a:xfrm>
            <a:off x="54864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Analyze</a:t>
            </a:r>
          </a:p>
          <a:p>
            <a:pPr algn="ctr"/>
            <a:r>
              <a:rPr sz="1000" b="0" i="0">
                <a:solidFill>
                  <a:srgbClr val="1E293B"/>
                </a:solidFill>
                <a:latin typeface="Arial"/>
              </a:rPr>
              <a:t>rank · decide</a:t>
            </a:r>
          </a:p>
        </p:txBody>
      </p:sp>
      <p:cxnSp>
        <p:nvCxnSpPr>
          <p:cNvPr id="11" name="Connector 10"/>
          <p:cNvCxnSpPr/>
          <p:nvPr/>
        </p:nvCxnSpPr>
        <p:spPr>
          <a:xfrm>
            <a:off x="4389120" y="228600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89120" y="420624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645920" y="420624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45920" y="228600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03720" y="1783080"/>
            <a:ext cx="4754880" cy="822960"/>
          </a:xfrm>
          <a:prstGeom prst="roundRect">
            <a:avLst>
              <a:gd name="adj" fmla="val 13333"/>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1E293B"/>
                </a:solidFill>
                <a:latin typeface="Arial"/>
              </a:rPr>
              <a:t>10⁶  </a:t>
            </a:r>
            <a:r>
              <a:rPr sz="1300" b="1" i="0">
                <a:solidFill>
                  <a:srgbClr val="1E293B"/>
                </a:solidFill>
                <a:latin typeface="Arial"/>
              </a:rPr>
              <a:t>ideas generated</a:t>
            </a:r>
          </a:p>
          <a:p>
            <a:pPr algn="ctr"/>
            <a:r>
              <a:rPr sz="1000" b="0" i="0">
                <a:solidFill>
                  <a:srgbClr val="1E293B"/>
                </a:solidFill>
                <a:latin typeface="Arial"/>
              </a:rPr>
              <a:t>agent / generative model</a:t>
            </a:r>
          </a:p>
        </p:txBody>
      </p:sp>
      <p:sp>
        <p:nvSpPr>
          <p:cNvPr id="16" name="Rounded Rectangle 15"/>
          <p:cNvSpPr/>
          <p:nvPr/>
        </p:nvSpPr>
        <p:spPr>
          <a:xfrm>
            <a:off x="7315200" y="2743200"/>
            <a:ext cx="3931920" cy="822960"/>
          </a:xfrm>
          <a:prstGeom prst="roundRect">
            <a:avLst>
              <a:gd name="adj" fmla="val 13333"/>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10⁴  </a:t>
            </a:r>
            <a:r>
              <a:rPr sz="1300" b="1" i="0">
                <a:solidFill>
                  <a:srgbClr val="FFFFFF"/>
                </a:solidFill>
                <a:latin typeface="Arial"/>
              </a:rPr>
              <a:t>screened with MACE</a:t>
            </a:r>
          </a:p>
          <a:p>
            <a:pPr algn="ctr"/>
            <a:r>
              <a:rPr sz="1000" b="0" i="0">
                <a:solidFill>
                  <a:srgbClr val="FFFFFF"/>
                </a:solidFill>
                <a:latin typeface="Arial"/>
              </a:rPr>
              <a:t>milliseconds each</a:t>
            </a:r>
          </a:p>
        </p:txBody>
      </p:sp>
      <p:sp>
        <p:nvSpPr>
          <p:cNvPr id="17" name="Rounded Rectangle 16"/>
          <p:cNvSpPr/>
          <p:nvPr/>
        </p:nvSpPr>
        <p:spPr>
          <a:xfrm>
            <a:off x="7726680" y="3703320"/>
            <a:ext cx="3108960" cy="822960"/>
          </a:xfrm>
          <a:prstGeom prst="roundRect">
            <a:avLst>
              <a:gd name="adj" fmla="val 13333"/>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10²  </a:t>
            </a:r>
            <a:r>
              <a:rPr sz="1300" b="1" i="0">
                <a:solidFill>
                  <a:srgbClr val="FFFFFF"/>
                </a:solidFill>
                <a:latin typeface="Arial"/>
              </a:rPr>
              <a:t>checked with DFT</a:t>
            </a:r>
          </a:p>
          <a:p>
            <a:pPr algn="ctr"/>
            <a:r>
              <a:rPr sz="1000" b="0" i="0">
                <a:solidFill>
                  <a:srgbClr val="FFFFFF"/>
                </a:solidFill>
                <a:latin typeface="Arial"/>
              </a:rPr>
              <a:t>hours each</a:t>
            </a:r>
          </a:p>
        </p:txBody>
      </p:sp>
      <p:sp>
        <p:nvSpPr>
          <p:cNvPr id="18" name="Rounded Rectangle 17"/>
          <p:cNvSpPr/>
          <p:nvPr/>
        </p:nvSpPr>
        <p:spPr>
          <a:xfrm>
            <a:off x="8138160" y="4663440"/>
            <a:ext cx="2286000" cy="822960"/>
          </a:xfrm>
          <a:prstGeom prst="roundRect">
            <a:avLst>
              <a:gd name="adj" fmla="val 13333"/>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10  </a:t>
            </a:r>
            <a:r>
              <a:rPr sz="1300" b="1" i="0">
                <a:solidFill>
                  <a:srgbClr val="FFFFFF"/>
                </a:solidFill>
                <a:latin typeface="Arial"/>
              </a:rPr>
              <a:t>made in the lab</a:t>
            </a:r>
          </a:p>
          <a:p>
            <a:pPr algn="ctr"/>
            <a:r>
              <a:rPr sz="1000" b="0" i="0">
                <a:solidFill>
                  <a:srgbClr val="FFFFFF"/>
                </a:solidFill>
                <a:latin typeface="Arial"/>
              </a:rPr>
              <a:t>weeks each</a:t>
            </a:r>
          </a:p>
        </p:txBody>
      </p:sp>
      <p:sp>
        <p:nvSpPr>
          <p:cNvPr id="19" name="Rounded Rectangle 18"/>
          <p:cNvSpPr/>
          <p:nvPr/>
        </p:nvSpPr>
        <p:spPr>
          <a:xfrm>
            <a:off x="6903720" y="5852160"/>
            <a:ext cx="4754880"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Physics cheap enough for an agent to think with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Evolution with MACE as the fitness function</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Generate, score, select, repeat: the LLM can be the mutation operator</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07</a:t>
            </a:r>
          </a:p>
        </p:txBody>
      </p:sp>
      <p:sp>
        <p:nvSpPr>
          <p:cNvPr id="6" name="Rounded Rectangle 5"/>
          <p:cNvSpPr/>
          <p:nvPr/>
        </p:nvSpPr>
        <p:spPr>
          <a:xfrm>
            <a:off x="2331720" y="173736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Population</a:t>
            </a:r>
          </a:p>
          <a:p>
            <a:pPr algn="ctr"/>
            <a:r>
              <a:rPr sz="1000" b="0" i="0">
                <a:solidFill>
                  <a:srgbClr val="1E293B"/>
                </a:solidFill>
                <a:latin typeface="Arial"/>
              </a:rPr>
              <a:t>candidate structures</a:t>
            </a:r>
          </a:p>
        </p:txBody>
      </p:sp>
      <p:sp>
        <p:nvSpPr>
          <p:cNvPr id="7" name="Rounded Rectangle 6"/>
          <p:cNvSpPr/>
          <p:nvPr/>
        </p:nvSpPr>
        <p:spPr>
          <a:xfrm>
            <a:off x="402336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Mutate</a:t>
            </a:r>
          </a:p>
          <a:p>
            <a:pPr algn="ctr"/>
            <a:r>
              <a:rPr sz="1000" b="0" i="0">
                <a:solidFill>
                  <a:srgbClr val="1E293B"/>
                </a:solidFill>
                <a:latin typeface="Arial"/>
              </a:rPr>
              <a:t>GA swaps  or  LLM ideas</a:t>
            </a:r>
          </a:p>
        </p:txBody>
      </p:sp>
      <p:sp>
        <p:nvSpPr>
          <p:cNvPr id="8" name="Rounded Rectangle 7"/>
          <p:cNvSpPr/>
          <p:nvPr/>
        </p:nvSpPr>
        <p:spPr>
          <a:xfrm>
            <a:off x="2331720" y="4389120"/>
            <a:ext cx="192024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Score</a:t>
            </a:r>
          </a:p>
          <a:p>
            <a:pPr algn="ctr"/>
            <a:r>
              <a:rPr sz="1000" b="0" i="0">
                <a:solidFill>
                  <a:srgbClr val="FFFFFF"/>
                </a:solidFill>
                <a:latin typeface="Arial"/>
              </a:rPr>
              <a:t>MACE energy</a:t>
            </a:r>
          </a:p>
        </p:txBody>
      </p:sp>
      <p:sp>
        <p:nvSpPr>
          <p:cNvPr id="9" name="Rounded Rectangle 8"/>
          <p:cNvSpPr/>
          <p:nvPr/>
        </p:nvSpPr>
        <p:spPr>
          <a:xfrm>
            <a:off x="64008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1E293B"/>
                </a:solidFill>
                <a:latin typeface="Arial"/>
              </a:rPr>
              <a:t>Select</a:t>
            </a:r>
          </a:p>
          <a:p>
            <a:pPr algn="ctr"/>
            <a:r>
              <a:rPr sz="1000" b="0" i="0">
                <a:solidFill>
                  <a:srgbClr val="1E293B"/>
                </a:solidFill>
                <a:latin typeface="Arial"/>
              </a:rPr>
              <a:t>keep the fittest</a:t>
            </a:r>
          </a:p>
        </p:txBody>
      </p:sp>
      <p:cxnSp>
        <p:nvCxnSpPr>
          <p:cNvPr id="10" name="Connector 9"/>
          <p:cNvCxnSpPr/>
          <p:nvPr/>
        </p:nvCxnSpPr>
        <p:spPr>
          <a:xfrm>
            <a:off x="390083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90083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20919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20919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60320" y="3246120"/>
            <a:ext cx="1463040" cy="365760"/>
          </a:xfrm>
          <a:prstGeom prst="rect">
            <a:avLst/>
          </a:prstGeom>
          <a:noFill/>
        </p:spPr>
        <p:txBody>
          <a:bodyPr wrap="square" lIns="0" rIns="0" tIns="0" bIns="0" anchor="t">
            <a:spAutoFit/>
          </a:bodyPr>
          <a:lstStyle/>
          <a:p>
            <a:pPr algn="ctr"/>
            <a:r>
              <a:rPr sz="1200" b="0" i="1">
                <a:solidFill>
                  <a:srgbClr val="64748B"/>
                </a:solidFill>
                <a:latin typeface="Arial"/>
              </a:rPr>
              <a:t>×  generations</a:t>
            </a:r>
          </a:p>
        </p:txBody>
      </p:sp>
      <p:sp>
        <p:nvSpPr>
          <p:cNvPr id="15" name="TextBox 14"/>
          <p:cNvSpPr txBox="1"/>
          <p:nvPr/>
        </p:nvSpPr>
        <p:spPr>
          <a:xfrm>
            <a:off x="548640" y="5303520"/>
            <a:ext cx="5486400" cy="274320"/>
          </a:xfrm>
          <a:prstGeom prst="rect">
            <a:avLst/>
          </a:prstGeom>
          <a:noFill/>
        </p:spPr>
        <p:txBody>
          <a:bodyPr wrap="square" lIns="0" rIns="0" tIns="0" bIns="0" anchor="t">
            <a:spAutoFit/>
          </a:bodyPr>
          <a:lstStyle/>
          <a:p>
            <a:pPr algn="l"/>
            <a:r>
              <a:rPr sz="1000" b="1" i="0">
                <a:solidFill>
                  <a:srgbClr val="B87878"/>
                </a:solidFill>
                <a:latin typeface="Arial"/>
              </a:rPr>
              <a:t>GENOME: 32 SITES, 4 LAYERS  (shown: L1₀ CuAu, the known stable phase)</a:t>
            </a:r>
          </a:p>
        </p:txBody>
      </p:sp>
      <p:sp>
        <p:nvSpPr>
          <p:cNvPr id="16" name="Rounded Rectangle 15"/>
          <p:cNvSpPr/>
          <p:nvPr/>
        </p:nvSpPr>
        <p:spPr>
          <a:xfrm>
            <a:off x="54864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1323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7782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042416"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207007"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37160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53619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170078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97510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213969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2304288"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2468880"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263347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279806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296265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3127248"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3401568"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356616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373075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3895344"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4059935"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224528"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4389120"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4553712" y="5596128"/>
            <a:ext cx="137160"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482803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4992624"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515721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5321807"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5486400"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5650992"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5815583"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5980176" y="5596128"/>
            <a:ext cx="137160"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48640" y="6035040"/>
            <a:ext cx="5943600" cy="274320"/>
          </a:xfrm>
          <a:prstGeom prst="rect">
            <a:avLst/>
          </a:prstGeom>
          <a:noFill/>
        </p:spPr>
        <p:txBody>
          <a:bodyPr wrap="square" lIns="0" rIns="0" tIns="0" bIns="0" anchor="t">
            <a:spAutoFit/>
          </a:bodyPr>
          <a:lstStyle/>
          <a:p>
            <a:pPr algn="l"/>
            <a:r>
              <a:rPr sz="1100" b="0" i="0">
                <a:solidFill>
                  <a:srgbClr val="B87333"/>
                </a:solidFill>
                <a:latin typeface="Arial"/>
              </a:rPr>
              <a:t>■ </a:t>
            </a:r>
            <a:r>
              <a:rPr sz="1100" b="0" i="0">
                <a:solidFill>
                  <a:srgbClr val="64748B"/>
                </a:solidFill>
                <a:latin typeface="Arial"/>
              </a:rPr>
              <a:t>Cu    </a:t>
            </a:r>
            <a:r>
              <a:rPr sz="1100" b="0" i="0">
                <a:solidFill>
                  <a:srgbClr val="C9A227"/>
                </a:solidFill>
                <a:latin typeface="Arial"/>
              </a:rPr>
              <a:t>■ </a:t>
            </a:r>
            <a:r>
              <a:rPr sz="1100" b="0" i="0">
                <a:solidFill>
                  <a:srgbClr val="64748B"/>
                </a:solidFill>
                <a:latin typeface="Arial"/>
              </a:rPr>
              <a:t>Au</a:t>
            </a:r>
          </a:p>
        </p:txBody>
      </p:sp>
      <p:graphicFrame>
        <p:nvGraphicFramePr>
          <p:cNvPr id="49" name="Chart 48"/>
          <p:cNvGraphicFramePr>
            <a:graphicFrameLocks noGrp="1"/>
          </p:cNvGraphicFramePr>
          <p:nvPr/>
        </p:nvGraphicFramePr>
        <p:xfrm>
          <a:off x="6400800" y="1737360"/>
          <a:ext cx="5257800" cy="4343400"/>
        </p:xfrm>
        <a:graphic>
          <a:graphicData uri="http://schemas.openxmlformats.org/drawingml/2006/chart">
            <c:chart xmlns:c="http://schemas.openxmlformats.org/drawingml/2006/chart" r:id="rId2"/>
          </a:graphicData>
        </a:graphic>
      </p:graphicFrame>
      <p:sp>
        <p:nvSpPr>
          <p:cNvPr id="50" name="TextBox 49"/>
          <p:cNvSpPr txBox="1"/>
          <p:nvPr/>
        </p:nvSpPr>
        <p:spPr>
          <a:xfrm>
            <a:off x="548640" y="6428232"/>
            <a:ext cx="9601200" cy="228600"/>
          </a:xfrm>
          <a:prstGeom prst="rect">
            <a:avLst/>
          </a:prstGeom>
          <a:noFill/>
        </p:spPr>
        <p:txBody>
          <a:bodyPr wrap="square" lIns="0" rIns="0" tIns="0" bIns="0" anchor="t">
            <a:spAutoFit/>
          </a:bodyPr>
          <a:lstStyle/>
          <a:p>
            <a:pPr algn="l"/>
            <a:r>
              <a:rPr sz="900" b="0" i="0">
                <a:solidFill>
                  <a:srgbClr val="94A3B8"/>
                </a:solidFill>
                <a:latin typeface="Arial"/>
              </a:rPr>
              <a:t>Real run from today's demo: 32-atom Cu/Au cell, MACE-MP-0 (small), 235 MACE calls in 17 s on a laptop CPU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More ways to pair MACE with an agent</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Same tool, four workflow shapes</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08</a:t>
            </a:r>
          </a:p>
        </p:txBody>
      </p:sp>
      <p:sp>
        <p:nvSpPr>
          <p:cNvPr id="6" name="Rounded Rectangle 5"/>
          <p:cNvSpPr/>
          <p:nvPr/>
        </p:nvSpPr>
        <p:spPr>
          <a:xfrm>
            <a:off x="548640" y="1783080"/>
            <a:ext cx="5440680" cy="2011680"/>
          </a:xfrm>
          <a:prstGeom prst="roundRect">
            <a:avLst>
              <a:gd name="adj" fmla="val 681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68096" y="2002536"/>
            <a:ext cx="475488" cy="47548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1</a:t>
            </a:r>
          </a:p>
        </p:txBody>
      </p:sp>
      <p:sp>
        <p:nvSpPr>
          <p:cNvPr id="8" name="TextBox 7"/>
          <p:cNvSpPr txBox="1"/>
          <p:nvPr/>
        </p:nvSpPr>
        <p:spPr>
          <a:xfrm>
            <a:off x="1417319" y="2084831"/>
            <a:ext cx="4389120" cy="320040"/>
          </a:xfrm>
          <a:prstGeom prst="rect">
            <a:avLst/>
          </a:prstGeom>
          <a:noFill/>
        </p:spPr>
        <p:txBody>
          <a:bodyPr wrap="square" lIns="0" rIns="0" tIns="0" bIns="0" anchor="t">
            <a:spAutoFit/>
          </a:bodyPr>
          <a:lstStyle/>
          <a:p>
            <a:pPr algn="l"/>
            <a:r>
              <a:rPr sz="1700" b="1" i="0">
                <a:solidFill>
                  <a:srgbClr val="1E293B"/>
                </a:solidFill>
                <a:latin typeface="Arial"/>
              </a:rPr>
              <a:t>Active learning</a:t>
            </a:r>
          </a:p>
        </p:txBody>
      </p:sp>
      <p:sp>
        <p:nvSpPr>
          <p:cNvPr id="9" name="Rounded Rectangle 8"/>
          <p:cNvSpPr/>
          <p:nvPr/>
        </p:nvSpPr>
        <p:spPr>
          <a:xfrm>
            <a:off x="822959" y="2679191"/>
            <a:ext cx="1463040" cy="548640"/>
          </a:xfrm>
          <a:prstGeom prst="roundRect">
            <a:avLst>
              <a:gd name="adj" fmla="val 16666"/>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1" i="0">
                <a:solidFill>
                  <a:srgbClr val="FFFFFF"/>
                </a:solidFill>
                <a:latin typeface="Arial"/>
              </a:rPr>
              <a:t>MACE unsure?</a:t>
            </a:r>
          </a:p>
        </p:txBody>
      </p:sp>
      <p:cxnSp>
        <p:nvCxnSpPr>
          <p:cNvPr id="10" name="Connector 9"/>
          <p:cNvCxnSpPr/>
          <p:nvPr/>
        </p:nvCxnSpPr>
        <p:spPr>
          <a:xfrm>
            <a:off x="2304288" y="295351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2032" y="2679191"/>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DFT labels it</a:t>
            </a:r>
          </a:p>
        </p:txBody>
      </p:sp>
      <p:cxnSp>
        <p:nvCxnSpPr>
          <p:cNvPr id="12" name="Connector 11"/>
          <p:cNvCxnSpPr/>
          <p:nvPr/>
        </p:nvCxnSpPr>
        <p:spPr>
          <a:xfrm>
            <a:off x="4023360" y="295351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61104" y="2679191"/>
            <a:ext cx="1463040" cy="548640"/>
          </a:xfrm>
          <a:prstGeom prst="roundRect">
            <a:avLst>
              <a:gd name="adj" fmla="val 16666"/>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1" i="0">
                <a:solidFill>
                  <a:srgbClr val="FFFFFF"/>
                </a:solidFill>
                <a:latin typeface="Arial"/>
              </a:rPr>
              <a:t>fine-tune MACE</a:t>
            </a:r>
          </a:p>
        </p:txBody>
      </p:sp>
      <p:sp>
        <p:nvSpPr>
          <p:cNvPr id="14" name="TextBox 13"/>
          <p:cNvSpPr txBox="1"/>
          <p:nvPr/>
        </p:nvSpPr>
        <p:spPr>
          <a:xfrm>
            <a:off x="822959" y="3355848"/>
            <a:ext cx="4937760" cy="320040"/>
          </a:xfrm>
          <a:prstGeom prst="rect">
            <a:avLst/>
          </a:prstGeom>
          <a:noFill/>
        </p:spPr>
        <p:txBody>
          <a:bodyPr wrap="square" lIns="0" rIns="0" tIns="0" bIns="0" anchor="t">
            <a:spAutoFit/>
          </a:bodyPr>
          <a:lstStyle/>
          <a:p>
            <a:pPr algn="l"/>
            <a:r>
              <a:rPr sz="1200" b="0" i="1">
                <a:solidFill>
                  <a:srgbClr val="64748B"/>
                </a:solidFill>
                <a:latin typeface="Arial"/>
              </a:rPr>
              <a:t>the agent decides where the model needs more data</a:t>
            </a:r>
          </a:p>
        </p:txBody>
      </p:sp>
      <p:sp>
        <p:nvSpPr>
          <p:cNvPr id="15" name="Rounded Rectangle 14"/>
          <p:cNvSpPr/>
          <p:nvPr/>
        </p:nvSpPr>
        <p:spPr>
          <a:xfrm>
            <a:off x="6199631" y="1783080"/>
            <a:ext cx="5440680" cy="2011680"/>
          </a:xfrm>
          <a:prstGeom prst="roundRect">
            <a:avLst>
              <a:gd name="adj" fmla="val 681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19088" y="2002536"/>
            <a:ext cx="475488" cy="47548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2</a:t>
            </a:r>
          </a:p>
        </p:txBody>
      </p:sp>
      <p:sp>
        <p:nvSpPr>
          <p:cNvPr id="17" name="TextBox 16"/>
          <p:cNvSpPr txBox="1"/>
          <p:nvPr/>
        </p:nvSpPr>
        <p:spPr>
          <a:xfrm>
            <a:off x="7068312" y="2084831"/>
            <a:ext cx="4389120" cy="320040"/>
          </a:xfrm>
          <a:prstGeom prst="rect">
            <a:avLst/>
          </a:prstGeom>
          <a:noFill/>
        </p:spPr>
        <p:txBody>
          <a:bodyPr wrap="square" lIns="0" rIns="0" tIns="0" bIns="0" anchor="t">
            <a:spAutoFit/>
          </a:bodyPr>
          <a:lstStyle/>
          <a:p>
            <a:pPr algn="l"/>
            <a:r>
              <a:rPr sz="1700" b="1" i="0">
                <a:solidFill>
                  <a:srgbClr val="1E293B"/>
                </a:solidFill>
                <a:latin typeface="Arial"/>
              </a:rPr>
              <a:t>MCP tool server</a:t>
            </a:r>
          </a:p>
        </p:txBody>
      </p:sp>
      <p:sp>
        <p:nvSpPr>
          <p:cNvPr id="18" name="Rounded Rectangle 17"/>
          <p:cNvSpPr/>
          <p:nvPr/>
        </p:nvSpPr>
        <p:spPr>
          <a:xfrm>
            <a:off x="6473951" y="2679191"/>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Claude</a:t>
            </a:r>
          </a:p>
        </p:txBody>
      </p:sp>
      <p:cxnSp>
        <p:nvCxnSpPr>
          <p:cNvPr id="19" name="Connector 18"/>
          <p:cNvCxnSpPr/>
          <p:nvPr/>
        </p:nvCxnSpPr>
        <p:spPr>
          <a:xfrm>
            <a:off x="7955279" y="2953512"/>
            <a:ext cx="219457"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93023" y="2679191"/>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relax · md · phonons</a:t>
            </a:r>
          </a:p>
        </p:txBody>
      </p:sp>
      <p:cxnSp>
        <p:nvCxnSpPr>
          <p:cNvPr id="21" name="Connector 20"/>
          <p:cNvCxnSpPr/>
          <p:nvPr/>
        </p:nvCxnSpPr>
        <p:spPr>
          <a:xfrm>
            <a:off x="9674351" y="295351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912096" y="2679191"/>
            <a:ext cx="1463040" cy="548640"/>
          </a:xfrm>
          <a:prstGeom prst="roundRect">
            <a:avLst>
              <a:gd name="adj" fmla="val 16666"/>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1" i="0">
                <a:solidFill>
                  <a:srgbClr val="FFFFFF"/>
                </a:solidFill>
                <a:latin typeface="Arial"/>
              </a:rPr>
              <a:t>MACE</a:t>
            </a:r>
          </a:p>
        </p:txBody>
      </p:sp>
      <p:sp>
        <p:nvSpPr>
          <p:cNvPr id="23" name="TextBox 22"/>
          <p:cNvSpPr txBox="1"/>
          <p:nvPr/>
        </p:nvSpPr>
        <p:spPr>
          <a:xfrm>
            <a:off x="6473951" y="3355848"/>
            <a:ext cx="4937760" cy="320040"/>
          </a:xfrm>
          <a:prstGeom prst="rect">
            <a:avLst/>
          </a:prstGeom>
          <a:noFill/>
        </p:spPr>
        <p:txBody>
          <a:bodyPr wrap="square" lIns="0" rIns="0" tIns="0" bIns="0" anchor="t">
            <a:spAutoFit/>
          </a:bodyPr>
          <a:lstStyle/>
          <a:p>
            <a:pPr algn="l"/>
            <a:r>
              <a:rPr sz="1200" b="0" i="1">
                <a:solidFill>
                  <a:srgbClr val="64748B"/>
                </a:solidFill>
                <a:latin typeface="Arial"/>
              </a:rPr>
              <a:t>expose MACE as tools any agent can call</a:t>
            </a:r>
          </a:p>
        </p:txBody>
      </p:sp>
      <p:sp>
        <p:nvSpPr>
          <p:cNvPr id="24" name="Rounded Rectangle 23"/>
          <p:cNvSpPr/>
          <p:nvPr/>
        </p:nvSpPr>
        <p:spPr>
          <a:xfrm>
            <a:off x="548640" y="4023360"/>
            <a:ext cx="5440680" cy="2011680"/>
          </a:xfrm>
          <a:prstGeom prst="roundRect">
            <a:avLst>
              <a:gd name="adj" fmla="val 681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4242816"/>
            <a:ext cx="475488" cy="47548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3</a:t>
            </a:r>
          </a:p>
        </p:txBody>
      </p:sp>
      <p:sp>
        <p:nvSpPr>
          <p:cNvPr id="26" name="TextBox 25"/>
          <p:cNvSpPr txBox="1"/>
          <p:nvPr/>
        </p:nvSpPr>
        <p:spPr>
          <a:xfrm>
            <a:off x="1417319" y="4325112"/>
            <a:ext cx="4389120" cy="320040"/>
          </a:xfrm>
          <a:prstGeom prst="rect">
            <a:avLst/>
          </a:prstGeom>
          <a:noFill/>
        </p:spPr>
        <p:txBody>
          <a:bodyPr wrap="square" lIns="0" rIns="0" tIns="0" bIns="0" anchor="t">
            <a:spAutoFit/>
          </a:bodyPr>
          <a:lstStyle/>
          <a:p>
            <a:pPr algn="l"/>
            <a:r>
              <a:rPr sz="1700" b="1" i="0">
                <a:solidFill>
                  <a:srgbClr val="1E293B"/>
                </a:solidFill>
                <a:latin typeface="Arial"/>
              </a:rPr>
              <a:t>Multi-agent team</a:t>
            </a:r>
          </a:p>
        </p:txBody>
      </p:sp>
      <p:sp>
        <p:nvSpPr>
          <p:cNvPr id="27" name="Rounded Rectangle 26"/>
          <p:cNvSpPr/>
          <p:nvPr/>
        </p:nvSpPr>
        <p:spPr>
          <a:xfrm>
            <a:off x="822959" y="4919472"/>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Planner</a:t>
            </a:r>
          </a:p>
        </p:txBody>
      </p:sp>
      <p:cxnSp>
        <p:nvCxnSpPr>
          <p:cNvPr id="28" name="Connector 27"/>
          <p:cNvCxnSpPr/>
          <p:nvPr/>
        </p:nvCxnSpPr>
        <p:spPr>
          <a:xfrm>
            <a:off x="2304288" y="519379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542032" y="4919472"/>
            <a:ext cx="1463040" cy="548640"/>
          </a:xfrm>
          <a:prstGeom prst="roundRect">
            <a:avLst>
              <a:gd name="adj" fmla="val 16666"/>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1" i="0">
                <a:solidFill>
                  <a:srgbClr val="FFFFFF"/>
                </a:solidFill>
                <a:latin typeface="Arial"/>
              </a:rPr>
              <a:t>Simulator (MACE)</a:t>
            </a:r>
          </a:p>
        </p:txBody>
      </p:sp>
      <p:cxnSp>
        <p:nvCxnSpPr>
          <p:cNvPr id="30" name="Connector 29"/>
          <p:cNvCxnSpPr/>
          <p:nvPr/>
        </p:nvCxnSpPr>
        <p:spPr>
          <a:xfrm>
            <a:off x="4023360" y="519379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261104" y="4919472"/>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Critic</a:t>
            </a:r>
          </a:p>
        </p:txBody>
      </p:sp>
      <p:sp>
        <p:nvSpPr>
          <p:cNvPr id="32" name="TextBox 31"/>
          <p:cNvSpPr txBox="1"/>
          <p:nvPr/>
        </p:nvSpPr>
        <p:spPr>
          <a:xfrm>
            <a:off x="822959" y="5596128"/>
            <a:ext cx="4937760" cy="320040"/>
          </a:xfrm>
          <a:prstGeom prst="rect">
            <a:avLst/>
          </a:prstGeom>
          <a:noFill/>
        </p:spPr>
        <p:txBody>
          <a:bodyPr wrap="square" lIns="0" rIns="0" tIns="0" bIns="0" anchor="t">
            <a:spAutoFit/>
          </a:bodyPr>
          <a:lstStyle/>
          <a:p>
            <a:pPr algn="l"/>
            <a:r>
              <a:rPr sz="1200" b="0" i="1">
                <a:solidFill>
                  <a:srgbClr val="64748B"/>
                </a:solidFill>
                <a:latin typeface="Arial"/>
              </a:rPr>
              <a:t>one proposes, one computes, one checks</a:t>
            </a:r>
          </a:p>
        </p:txBody>
      </p:sp>
      <p:sp>
        <p:nvSpPr>
          <p:cNvPr id="33" name="Rounded Rectangle 32"/>
          <p:cNvSpPr/>
          <p:nvPr/>
        </p:nvSpPr>
        <p:spPr>
          <a:xfrm>
            <a:off x="6199631" y="4023360"/>
            <a:ext cx="5440680" cy="2011680"/>
          </a:xfrm>
          <a:prstGeom prst="roundRect">
            <a:avLst>
              <a:gd name="adj" fmla="val 681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419088" y="4242816"/>
            <a:ext cx="475488" cy="47548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Arial"/>
              </a:rPr>
              <a:t>4</a:t>
            </a:r>
          </a:p>
        </p:txBody>
      </p:sp>
      <p:sp>
        <p:nvSpPr>
          <p:cNvPr id="35" name="TextBox 34"/>
          <p:cNvSpPr txBox="1"/>
          <p:nvPr/>
        </p:nvSpPr>
        <p:spPr>
          <a:xfrm>
            <a:off x="7068312" y="4325112"/>
            <a:ext cx="4389120" cy="320040"/>
          </a:xfrm>
          <a:prstGeom prst="rect">
            <a:avLst/>
          </a:prstGeom>
          <a:noFill/>
        </p:spPr>
        <p:txBody>
          <a:bodyPr wrap="square" lIns="0" rIns="0" tIns="0" bIns="0" anchor="t">
            <a:spAutoFit/>
          </a:bodyPr>
          <a:lstStyle/>
          <a:p>
            <a:pPr algn="l"/>
            <a:r>
              <a:rPr sz="1700" b="1" i="0">
                <a:solidFill>
                  <a:srgbClr val="1E293B"/>
                </a:solidFill>
                <a:latin typeface="Arial"/>
              </a:rPr>
              <a:t>Property prediction</a:t>
            </a:r>
          </a:p>
        </p:txBody>
      </p:sp>
      <p:sp>
        <p:nvSpPr>
          <p:cNvPr id="36" name="Rounded Rectangle 35"/>
          <p:cNvSpPr/>
          <p:nvPr/>
        </p:nvSpPr>
        <p:spPr>
          <a:xfrm>
            <a:off x="6473951" y="4919472"/>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Agent sets T, P</a:t>
            </a:r>
          </a:p>
        </p:txBody>
      </p:sp>
      <p:cxnSp>
        <p:nvCxnSpPr>
          <p:cNvPr id="37" name="Connector 36"/>
          <p:cNvCxnSpPr/>
          <p:nvPr/>
        </p:nvCxnSpPr>
        <p:spPr>
          <a:xfrm>
            <a:off x="7955279" y="5193792"/>
            <a:ext cx="219457"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193023" y="4919472"/>
            <a:ext cx="1463040" cy="548640"/>
          </a:xfrm>
          <a:prstGeom prst="roundRect">
            <a:avLst>
              <a:gd name="adj" fmla="val 16666"/>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1" i="0">
                <a:solidFill>
                  <a:srgbClr val="FFFFFF"/>
                </a:solidFill>
                <a:latin typeface="Arial"/>
              </a:rPr>
              <a:t>MACE dynamics</a:t>
            </a:r>
          </a:p>
        </p:txBody>
      </p:sp>
      <p:cxnSp>
        <p:nvCxnSpPr>
          <p:cNvPr id="39" name="Connector 38"/>
          <p:cNvCxnSpPr/>
          <p:nvPr/>
        </p:nvCxnSpPr>
        <p:spPr>
          <a:xfrm>
            <a:off x="9674351" y="5193792"/>
            <a:ext cx="219456" cy="0"/>
          </a:xfrm>
          <a:prstGeom prst="line">
            <a:avLst/>
          </a:prstGeom>
          <a:ln w="22225">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912096" y="4919472"/>
            <a:ext cx="1463040" cy="548640"/>
          </a:xfrm>
          <a:prstGeom prst="roundRect">
            <a:avLst>
              <a:gd name="adj" fmla="val 16666"/>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100" b="0" i="0">
                <a:solidFill>
                  <a:srgbClr val="1E293B"/>
                </a:solidFill>
                <a:latin typeface="Arial"/>
              </a:rPr>
              <a:t>diffusion, strength</a:t>
            </a:r>
          </a:p>
        </p:txBody>
      </p:sp>
      <p:sp>
        <p:nvSpPr>
          <p:cNvPr id="41" name="TextBox 40"/>
          <p:cNvSpPr txBox="1"/>
          <p:nvPr/>
        </p:nvSpPr>
        <p:spPr>
          <a:xfrm>
            <a:off x="6473951" y="5596128"/>
            <a:ext cx="4937760" cy="320040"/>
          </a:xfrm>
          <a:prstGeom prst="rect">
            <a:avLst/>
          </a:prstGeom>
          <a:noFill/>
        </p:spPr>
        <p:txBody>
          <a:bodyPr wrap="square" lIns="0" rIns="0" tIns="0" bIns="0" anchor="t">
            <a:spAutoFit/>
          </a:bodyPr>
          <a:lstStyle/>
          <a:p>
            <a:pPr algn="l"/>
            <a:r>
              <a:rPr sz="1200" b="0" i="1">
                <a:solidFill>
                  <a:srgbClr val="64748B"/>
                </a:solidFill>
                <a:latin typeface="Arial"/>
              </a:rPr>
              <a:t>long simulations that DFT can't afford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47472"/>
            <a:ext cx="8229600" cy="274320"/>
          </a:xfrm>
          <a:prstGeom prst="rect">
            <a:avLst/>
          </a:prstGeom>
          <a:noFill/>
        </p:spPr>
        <p:txBody>
          <a:bodyPr wrap="square" lIns="0" rIns="0" t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Trust, but verify</a:t>
            </a:r>
          </a:p>
        </p:txBody>
      </p:sp>
      <p:sp>
        <p:nvSpPr>
          <p:cNvPr id="4"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Pressure-test MACE before an agent acts on it</a:t>
            </a:r>
          </a:p>
        </p:txBody>
      </p:sp>
      <p:sp>
        <p:nvSpPr>
          <p:cNvPr id="5" name="TextBox 4"/>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09</a:t>
            </a:r>
          </a:p>
        </p:txBody>
      </p:sp>
      <p:sp>
        <p:nvSpPr>
          <p:cNvPr id="6" name="Rounded Rectangle 5"/>
          <p:cNvSpPr/>
          <p:nvPr/>
        </p:nvSpPr>
        <p:spPr>
          <a:xfrm>
            <a:off x="548640" y="1783080"/>
            <a:ext cx="2606040" cy="320040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00100" y="2080260"/>
            <a:ext cx="868680" cy="86868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800" b="1" i="0">
                <a:solidFill>
                  <a:srgbClr val="FFFFFF"/>
                </a:solidFill>
                <a:latin typeface="Cambria Math"/>
              </a:rPr>
              <a:t>?</a:t>
            </a:r>
          </a:p>
        </p:txBody>
      </p:sp>
      <p:sp>
        <p:nvSpPr>
          <p:cNvPr id="8" name="TextBox 7"/>
          <p:cNvSpPr txBox="1"/>
          <p:nvPr/>
        </p:nvSpPr>
        <p:spPr>
          <a:xfrm>
            <a:off x="822959" y="3246120"/>
            <a:ext cx="2148840" cy="365760"/>
          </a:xfrm>
          <a:prstGeom prst="rect">
            <a:avLst/>
          </a:prstGeom>
          <a:noFill/>
        </p:spPr>
        <p:txBody>
          <a:bodyPr wrap="square" lIns="0" rIns="0" tIns="0" bIns="0" anchor="t">
            <a:spAutoFit/>
          </a:bodyPr>
          <a:lstStyle/>
          <a:p>
            <a:pPr algn="l"/>
            <a:r>
              <a:rPr sz="1700" b="1" i="0">
                <a:solidFill>
                  <a:srgbClr val="1E293B"/>
                </a:solidFill>
                <a:latin typeface="Arial"/>
              </a:rPr>
              <a:t>Out of distribution</a:t>
            </a:r>
          </a:p>
        </p:txBody>
      </p:sp>
      <p:sp>
        <p:nvSpPr>
          <p:cNvPr id="9" name="TextBox 8"/>
          <p:cNvSpPr txBox="1"/>
          <p:nvPr/>
        </p:nvSpPr>
        <p:spPr>
          <a:xfrm>
            <a:off x="822959" y="3703320"/>
            <a:ext cx="2148840" cy="1188720"/>
          </a:xfrm>
          <a:prstGeom prst="rect">
            <a:avLst/>
          </a:prstGeom>
          <a:noFill/>
        </p:spPr>
        <p:txBody>
          <a:bodyPr wrap="square" lIns="0" rIns="0" tIns="0" bIns="0" anchor="t">
            <a:spAutoFit/>
          </a:bodyPr>
          <a:lstStyle/>
          <a:p>
            <a:pPr algn="l"/>
            <a:r>
              <a:rPr sz="1400" b="0" i="0">
                <a:solidFill>
                  <a:srgbClr val="64748B"/>
                </a:solidFill>
                <a:latin typeface="Arial"/>
              </a:rPr>
              <a:t>Chemistry far from the training data fails silently. Watch uncertainty.</a:t>
            </a:r>
          </a:p>
        </p:txBody>
      </p:sp>
      <p:sp>
        <p:nvSpPr>
          <p:cNvPr id="10" name="Rounded Rectangle 9"/>
          <p:cNvSpPr/>
          <p:nvPr/>
        </p:nvSpPr>
        <p:spPr>
          <a:xfrm>
            <a:off x="3383280" y="1783080"/>
            <a:ext cx="2606040" cy="320040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34740" y="2080260"/>
            <a:ext cx="868680" cy="86868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Cambria Math"/>
              </a:rPr>
              <a:t>DFT</a:t>
            </a:r>
          </a:p>
        </p:txBody>
      </p:sp>
      <p:sp>
        <p:nvSpPr>
          <p:cNvPr id="12" name="TextBox 11"/>
          <p:cNvSpPr txBox="1"/>
          <p:nvPr/>
        </p:nvSpPr>
        <p:spPr>
          <a:xfrm>
            <a:off x="3657600" y="3246120"/>
            <a:ext cx="2148840" cy="365760"/>
          </a:xfrm>
          <a:prstGeom prst="rect">
            <a:avLst/>
          </a:prstGeom>
          <a:noFill/>
        </p:spPr>
        <p:txBody>
          <a:bodyPr wrap="square" lIns="0" rIns="0" tIns="0" bIns="0" anchor="t">
            <a:spAutoFit/>
          </a:bodyPr>
          <a:lstStyle/>
          <a:p>
            <a:pPr algn="l"/>
            <a:r>
              <a:rPr sz="1700" b="1" i="0">
                <a:solidFill>
                  <a:srgbClr val="1E293B"/>
                </a:solidFill>
                <a:latin typeface="Arial"/>
              </a:rPr>
              <a:t>Inherits DFT errors</a:t>
            </a:r>
          </a:p>
        </p:txBody>
      </p:sp>
      <p:sp>
        <p:nvSpPr>
          <p:cNvPr id="13" name="TextBox 12"/>
          <p:cNvSpPr txBox="1"/>
          <p:nvPr/>
        </p:nvSpPr>
        <p:spPr>
          <a:xfrm>
            <a:off x="3657600" y="3703320"/>
            <a:ext cx="2148840" cy="1188720"/>
          </a:xfrm>
          <a:prstGeom prst="rect">
            <a:avLst/>
          </a:prstGeom>
          <a:noFill/>
        </p:spPr>
        <p:txBody>
          <a:bodyPr wrap="square" lIns="0" rIns="0" tIns="0" bIns="0" anchor="t">
            <a:spAutoFit/>
          </a:bodyPr>
          <a:lstStyle/>
          <a:p>
            <a:pPr algn="l"/>
            <a:r>
              <a:rPr sz="1400" b="0" i="0">
                <a:solidFill>
                  <a:srgbClr val="64748B"/>
                </a:solidFill>
                <a:latin typeface="Arial"/>
              </a:rPr>
              <a:t>Trained on PBE-level DFT, so its known biases carry over.</a:t>
            </a:r>
          </a:p>
        </p:txBody>
      </p:sp>
      <p:sp>
        <p:nvSpPr>
          <p:cNvPr id="14" name="Rounded Rectangle 13"/>
          <p:cNvSpPr/>
          <p:nvPr/>
        </p:nvSpPr>
        <p:spPr>
          <a:xfrm>
            <a:off x="6217920" y="1783080"/>
            <a:ext cx="2606040" cy="320040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69380" y="2080260"/>
            <a:ext cx="868680" cy="86868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800" b="1" i="0">
                <a:solidFill>
                  <a:srgbClr val="FFFFFF"/>
                </a:solidFill>
                <a:latin typeface="Cambria Math"/>
              </a:rPr>
              <a:t>≈</a:t>
            </a:r>
          </a:p>
        </p:txBody>
      </p:sp>
      <p:sp>
        <p:nvSpPr>
          <p:cNvPr id="16" name="TextBox 15"/>
          <p:cNvSpPr txBox="1"/>
          <p:nvPr/>
        </p:nvSpPr>
        <p:spPr>
          <a:xfrm>
            <a:off x="6492240" y="3246120"/>
            <a:ext cx="2148840" cy="365760"/>
          </a:xfrm>
          <a:prstGeom prst="rect">
            <a:avLst/>
          </a:prstGeom>
          <a:noFill/>
        </p:spPr>
        <p:txBody>
          <a:bodyPr wrap="square" lIns="0" rIns="0" tIns="0" bIns="0" anchor="t">
            <a:spAutoFit/>
          </a:bodyPr>
          <a:lstStyle/>
          <a:p>
            <a:pPr algn="l"/>
            <a:r>
              <a:rPr sz="1700" b="1" i="0">
                <a:solidFill>
                  <a:srgbClr val="1E293B"/>
                </a:solidFill>
                <a:latin typeface="Arial"/>
              </a:rPr>
              <a:t>Softened surface</a:t>
            </a:r>
          </a:p>
        </p:txBody>
      </p:sp>
      <p:sp>
        <p:nvSpPr>
          <p:cNvPr id="17" name="TextBox 16"/>
          <p:cNvSpPr txBox="1"/>
          <p:nvPr/>
        </p:nvSpPr>
        <p:spPr>
          <a:xfrm>
            <a:off x="6492240" y="3703320"/>
            <a:ext cx="2148840" cy="1188720"/>
          </a:xfrm>
          <a:prstGeom prst="rect">
            <a:avLst/>
          </a:prstGeom>
          <a:noFill/>
        </p:spPr>
        <p:txBody>
          <a:bodyPr wrap="square" lIns="0" rIns="0" tIns="0" bIns="0" anchor="t">
            <a:spAutoFit/>
          </a:bodyPr>
          <a:lstStyle/>
          <a:p>
            <a:pPr algn="l"/>
            <a:r>
              <a:rPr sz="1400" b="0" i="0">
                <a:solidFill>
                  <a:srgbClr val="64748B"/>
                </a:solidFill>
                <a:latin typeface="Arial"/>
              </a:rPr>
              <a:t>Universal models tend to under-predict stiffness. Fine-tune for production.</a:t>
            </a:r>
          </a:p>
        </p:txBody>
      </p:sp>
      <p:sp>
        <p:nvSpPr>
          <p:cNvPr id="18" name="Rounded Rectangle 17"/>
          <p:cNvSpPr/>
          <p:nvPr/>
        </p:nvSpPr>
        <p:spPr>
          <a:xfrm>
            <a:off x="9052560" y="1783080"/>
            <a:ext cx="2606040" cy="320040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304020" y="2080260"/>
            <a:ext cx="868680" cy="86868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500" b="1" i="0">
                <a:solidFill>
                  <a:srgbClr val="FFFFFF"/>
                </a:solidFill>
                <a:latin typeface="Cambria Math"/>
              </a:rPr>
              <a:t>r</a:t>
            </a:r>
            <a:r>
              <a:rPr sz="1500" b="1" i="0" baseline="-25000">
                <a:solidFill>
                  <a:srgbClr val="FFFFFF"/>
                </a:solidFill>
                <a:latin typeface="Cambria Math"/>
              </a:rPr>
              <a:t>c</a:t>
            </a:r>
          </a:p>
        </p:txBody>
      </p:sp>
      <p:sp>
        <p:nvSpPr>
          <p:cNvPr id="20" name="TextBox 19"/>
          <p:cNvSpPr txBox="1"/>
          <p:nvPr/>
        </p:nvSpPr>
        <p:spPr>
          <a:xfrm>
            <a:off x="9326880" y="3246120"/>
            <a:ext cx="2148840" cy="365760"/>
          </a:xfrm>
          <a:prstGeom prst="rect">
            <a:avLst/>
          </a:prstGeom>
          <a:noFill/>
        </p:spPr>
        <p:txBody>
          <a:bodyPr wrap="square" lIns="0" rIns="0" tIns="0" bIns="0" anchor="t">
            <a:spAutoFit/>
          </a:bodyPr>
          <a:lstStyle/>
          <a:p>
            <a:pPr algn="l"/>
            <a:r>
              <a:rPr sz="1700" b="1" i="0">
                <a:solidFill>
                  <a:srgbClr val="1E293B"/>
                </a:solidFill>
                <a:latin typeface="Arial"/>
              </a:rPr>
              <a:t>Local by design</a:t>
            </a:r>
          </a:p>
        </p:txBody>
      </p:sp>
      <p:sp>
        <p:nvSpPr>
          <p:cNvPr id="21" name="TextBox 20"/>
          <p:cNvSpPr txBox="1"/>
          <p:nvPr/>
        </p:nvSpPr>
        <p:spPr>
          <a:xfrm>
            <a:off x="9326880" y="3703320"/>
            <a:ext cx="2148840" cy="1188720"/>
          </a:xfrm>
          <a:prstGeom prst="rect">
            <a:avLst/>
          </a:prstGeom>
          <a:noFill/>
        </p:spPr>
        <p:txBody>
          <a:bodyPr wrap="square" lIns="0" rIns="0" tIns="0" bIns="0" anchor="t">
            <a:spAutoFit/>
          </a:bodyPr>
          <a:lstStyle/>
          <a:p>
            <a:pPr algn="l"/>
            <a:r>
              <a:rPr sz="1400" b="0" i="0">
                <a:solidFill>
                  <a:srgbClr val="64748B"/>
                </a:solidFill>
                <a:latin typeface="Arial"/>
              </a:rPr>
              <a:t>A ~6 Å cutoff misses long-range electrostatics without add-ons.</a:t>
            </a:r>
          </a:p>
        </p:txBody>
      </p:sp>
      <p:sp>
        <p:nvSpPr>
          <p:cNvPr id="22" name="Rounded Rectangle 21"/>
          <p:cNvSpPr/>
          <p:nvPr/>
        </p:nvSpPr>
        <p:spPr>
          <a:xfrm>
            <a:off x="548640" y="5349240"/>
            <a:ext cx="11091672"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Agent rule: MACE proposes, DFT disposes. Spot-check every winner.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00000"/>
        </a:solidFill>
        <a:effectLst/>
      </p:bgPr>
    </p:bg>
    <p:spTree>
      <p:nvGrpSpPr>
        <p:cNvPr id="1" name=""/>
        <p:cNvGrpSpPr/>
        <p:nvPr/>
      </p:nvGrpSpPr>
      <p:grpSpPr/>
      <p:sp>
        <p:nvSpPr>
          <p:cNvPr id="2" name="TextBox 1"/>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E3C4C4"/>
                </a:solidFill>
                <a:latin typeface="Arial"/>
              </a:rPr>
              <a:t>10</a:t>
            </a:r>
          </a:p>
        </p:txBody>
      </p:sp>
      <p:sp>
        <p:nvSpPr>
          <p:cNvPr id="3" name="TextBox 2"/>
          <p:cNvSpPr txBox="1"/>
          <p:nvPr/>
        </p:nvSpPr>
        <p:spPr>
          <a:xfrm>
            <a:off x="731520" y="914400"/>
            <a:ext cx="10058400" cy="320040"/>
          </a:xfrm>
          <a:prstGeom prst="rect">
            <a:avLst/>
          </a:prstGeom>
          <a:noFill/>
        </p:spPr>
        <p:txBody>
          <a:bodyPr wrap="square" lIns="0" rIns="0" tIns="0" bIns="0" anchor="t">
            <a:spAutoFit/>
          </a:bodyPr>
          <a:lstStyle/>
          <a:p>
            <a:pPr algn="l"/>
            <a:r>
              <a:rPr sz="1400" b="1" i="0">
                <a:solidFill>
                  <a:srgbClr val="E3C4C4"/>
                </a:solidFill>
                <a:latin typeface="Arial"/>
              </a:rPr>
              <a:t>LIVE DEMO</a:t>
            </a:r>
          </a:p>
        </p:txBody>
      </p:sp>
      <p:sp>
        <p:nvSpPr>
          <p:cNvPr id="4" name="TextBox 3"/>
          <p:cNvSpPr txBox="1"/>
          <p:nvPr/>
        </p:nvSpPr>
        <p:spPr>
          <a:xfrm>
            <a:off x="731520" y="1280160"/>
            <a:ext cx="10515600" cy="1005840"/>
          </a:xfrm>
          <a:prstGeom prst="rect">
            <a:avLst/>
          </a:prstGeom>
          <a:noFill/>
        </p:spPr>
        <p:txBody>
          <a:bodyPr wrap="square" lIns="0" rIns="0" tIns="0" bIns="0" anchor="t">
            <a:spAutoFit/>
          </a:bodyPr>
          <a:lstStyle/>
          <a:p>
            <a:pPr algn="l"/>
            <a:r>
              <a:rPr sz="5400" b="1" i="0">
                <a:solidFill>
                  <a:srgbClr val="FFFFFF"/>
                </a:solidFill>
                <a:latin typeface="Arial"/>
              </a:rPr>
              <a:t>Claude Code  ×  MACE</a:t>
            </a:r>
          </a:p>
        </p:txBody>
      </p:sp>
      <p:sp>
        <p:nvSpPr>
          <p:cNvPr id="5" name="TextBox 4"/>
          <p:cNvSpPr txBox="1"/>
          <p:nvPr/>
        </p:nvSpPr>
        <p:spPr>
          <a:xfrm>
            <a:off x="731520" y="2331720"/>
            <a:ext cx="10515600" cy="457200"/>
          </a:xfrm>
          <a:prstGeom prst="rect">
            <a:avLst/>
          </a:prstGeom>
          <a:noFill/>
        </p:spPr>
        <p:txBody>
          <a:bodyPr wrap="square" lIns="0" rIns="0" tIns="0" bIns="0" anchor="t">
            <a:spAutoFit/>
          </a:bodyPr>
          <a:lstStyle/>
          <a:p>
            <a:pPr algn="l"/>
            <a:r>
              <a:rPr sz="1800" b="0" i="0">
                <a:solidFill>
                  <a:srgbClr val="E3C4C4"/>
                </a:solidFill>
                <a:latin typeface="Arial"/>
              </a:rPr>
              <a:t>An LLM agent in VS Code using MACE as its physics tool, live on this laptop</a:t>
            </a:r>
          </a:p>
        </p:txBody>
      </p:sp>
      <p:sp>
        <p:nvSpPr>
          <p:cNvPr id="6" name="Rounded Rectangle 5"/>
          <p:cNvSpPr/>
          <p:nvPr/>
        </p:nvSpPr>
        <p:spPr>
          <a:xfrm>
            <a:off x="7315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829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1</a:t>
            </a:r>
          </a:p>
        </p:txBody>
      </p:sp>
      <p:sp>
        <p:nvSpPr>
          <p:cNvPr id="8" name="TextBox 7"/>
          <p:cNvSpPr txBox="1"/>
          <p:nvPr/>
        </p:nvSpPr>
        <p:spPr>
          <a:xfrm>
            <a:off x="1005840" y="4434840"/>
            <a:ext cx="2834640" cy="365760"/>
          </a:xfrm>
          <a:prstGeom prst="rect">
            <a:avLst/>
          </a:prstGeom>
          <a:noFill/>
        </p:spPr>
        <p:txBody>
          <a:bodyPr wrap="square" lIns="0" rIns="0" tIns="0" bIns="0" anchor="t">
            <a:spAutoFit/>
          </a:bodyPr>
          <a:lstStyle/>
          <a:p>
            <a:pPr algn="l"/>
            <a:r>
              <a:rPr sz="1900" b="1" i="0">
                <a:solidFill>
                  <a:srgbClr val="500000"/>
                </a:solidFill>
                <a:latin typeface="Arial"/>
              </a:rPr>
              <a:t>Forces</a:t>
            </a:r>
          </a:p>
        </p:txBody>
      </p:sp>
      <p:sp>
        <p:nvSpPr>
          <p:cNvPr id="9" name="TextBox 8"/>
          <p:cNvSpPr txBox="1"/>
          <p:nvPr/>
        </p:nvSpPr>
        <p:spPr>
          <a:xfrm>
            <a:off x="1005840" y="4846320"/>
            <a:ext cx="2834640" cy="731520"/>
          </a:xfrm>
          <a:prstGeom prst="rect">
            <a:avLst/>
          </a:prstGeom>
          <a:noFill/>
        </p:spPr>
        <p:txBody>
          <a:bodyPr wrap="square" lIns="0" rIns="0" tIns="0" bIns="0" anchor="t">
            <a:spAutoFit/>
          </a:bodyPr>
          <a:lstStyle/>
          <a:p>
            <a:pPr algn="l"/>
            <a:r>
              <a:rPr sz="1300" b="0" i="0">
                <a:solidFill>
                  <a:srgbClr val="64748B"/>
                </a:solidFill>
                <a:latin typeface="Arial"/>
              </a:rPr>
              <a:t>Stretch a water molecule, read the forces, watch it relax</a:t>
            </a:r>
          </a:p>
        </p:txBody>
      </p:sp>
      <p:sp>
        <p:nvSpPr>
          <p:cNvPr id="10" name="Rounded Rectangle 9"/>
          <p:cNvSpPr/>
          <p:nvPr/>
        </p:nvSpPr>
        <p:spPr>
          <a:xfrm>
            <a:off x="43891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405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2</a:t>
            </a:r>
          </a:p>
        </p:txBody>
      </p:sp>
      <p:sp>
        <p:nvSpPr>
          <p:cNvPr id="12" name="TextBox 11"/>
          <p:cNvSpPr txBox="1"/>
          <p:nvPr/>
        </p:nvSpPr>
        <p:spPr>
          <a:xfrm>
            <a:off x="4663440" y="4434840"/>
            <a:ext cx="2834640" cy="365760"/>
          </a:xfrm>
          <a:prstGeom prst="rect">
            <a:avLst/>
          </a:prstGeom>
          <a:noFill/>
        </p:spPr>
        <p:txBody>
          <a:bodyPr wrap="square" lIns="0" rIns="0" tIns="0" bIns="0" anchor="t">
            <a:spAutoFit/>
          </a:bodyPr>
          <a:lstStyle/>
          <a:p>
            <a:pPr algn="l"/>
            <a:r>
              <a:rPr sz="1900" b="1" i="0">
                <a:solidFill>
                  <a:srgbClr val="500000"/>
                </a:solidFill>
                <a:latin typeface="Arial"/>
              </a:rPr>
              <a:t>Blind evolution</a:t>
            </a:r>
          </a:p>
        </p:txBody>
      </p:sp>
      <p:sp>
        <p:nvSpPr>
          <p:cNvPr id="13" name="TextBox 12"/>
          <p:cNvSpPr txBox="1"/>
          <p:nvPr/>
        </p:nvSpPr>
        <p:spPr>
          <a:xfrm>
            <a:off x="4663440" y="4846320"/>
            <a:ext cx="2834640" cy="731520"/>
          </a:xfrm>
          <a:prstGeom prst="rect">
            <a:avLst/>
          </a:prstGeom>
          <a:noFill/>
        </p:spPr>
        <p:txBody>
          <a:bodyPr wrap="square" lIns="0" rIns="0" tIns="0" bIns="0" anchor="t">
            <a:spAutoFit/>
          </a:bodyPr>
          <a:lstStyle/>
          <a:p>
            <a:pPr algn="l"/>
            <a:r>
              <a:rPr sz="1300" b="0" i="0">
                <a:solidFill>
                  <a:srgbClr val="64748B"/>
                </a:solidFill>
                <a:latin typeface="Arial"/>
              </a:rPr>
              <a:t>A genetic algorithm scores 235 Cu/Au alloys in 17 s</a:t>
            </a:r>
          </a:p>
        </p:txBody>
      </p:sp>
      <p:sp>
        <p:nvSpPr>
          <p:cNvPr id="14" name="Rounded Rectangle 13"/>
          <p:cNvSpPr/>
          <p:nvPr/>
        </p:nvSpPr>
        <p:spPr>
          <a:xfrm>
            <a:off x="80467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981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i="0">
                <a:solidFill>
                  <a:srgbClr val="FFFFFF"/>
                </a:solidFill>
                <a:latin typeface="Arial"/>
              </a:rPr>
              <a:t>3</a:t>
            </a:r>
          </a:p>
        </p:txBody>
      </p:sp>
      <p:sp>
        <p:nvSpPr>
          <p:cNvPr id="16" name="TextBox 15"/>
          <p:cNvSpPr txBox="1"/>
          <p:nvPr/>
        </p:nvSpPr>
        <p:spPr>
          <a:xfrm>
            <a:off x="8321040" y="4434840"/>
            <a:ext cx="2834640" cy="365760"/>
          </a:xfrm>
          <a:prstGeom prst="rect">
            <a:avLst/>
          </a:prstGeom>
          <a:noFill/>
        </p:spPr>
        <p:txBody>
          <a:bodyPr wrap="square" lIns="0" rIns="0" tIns="0" bIns="0" anchor="t">
            <a:spAutoFit/>
          </a:bodyPr>
          <a:lstStyle/>
          <a:p>
            <a:pPr algn="l"/>
            <a:r>
              <a:rPr sz="1900" b="1" i="0">
                <a:solidFill>
                  <a:srgbClr val="500000"/>
                </a:solidFill>
                <a:latin typeface="Arial"/>
              </a:rPr>
              <a:t>Agent evolution</a:t>
            </a:r>
          </a:p>
        </p:txBody>
      </p:sp>
      <p:sp>
        <p:nvSpPr>
          <p:cNvPr id="17" name="TextBox 16"/>
          <p:cNvSpPr txBox="1"/>
          <p:nvPr/>
        </p:nvSpPr>
        <p:spPr>
          <a:xfrm>
            <a:off x="8321040" y="4846320"/>
            <a:ext cx="2834640" cy="731520"/>
          </a:xfrm>
          <a:prstGeom prst="rect">
            <a:avLst/>
          </a:prstGeom>
          <a:noFill/>
        </p:spPr>
        <p:txBody>
          <a:bodyPr wrap="square" lIns="0" rIns="0" tIns="0" bIns="0" anchor="t">
            <a:spAutoFit/>
          </a:bodyPr>
          <a:lstStyle/>
          <a:p>
            <a:pPr algn="l"/>
            <a:r>
              <a:rPr sz="1300" b="0" i="0">
                <a:solidFill>
                  <a:srgbClr val="64748B"/>
                </a:solidFill>
                <a:latin typeface="Arial"/>
              </a:rPr>
              <a:t>Claude proposes structures, MACE judges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566928"/>
            <a:ext cx="11064240" cy="640080"/>
          </a:xfrm>
          <a:prstGeom prst="rect">
            <a:avLst/>
          </a:prstGeom>
          <a:noFill/>
        </p:spPr>
        <p:txBody>
          <a:bodyPr wrap="square" lIns="0" rIns="0" tIns="0" bIns="0" anchor="t">
            <a:spAutoFit/>
          </a:bodyPr>
          <a:lstStyle/>
          <a:p>
            <a:pPr algn="l"/>
            <a:r>
              <a:rPr sz="3400" b="1" i="0">
                <a:solidFill>
                  <a:srgbClr val="500000"/>
                </a:solidFill>
                <a:latin typeface="Arial"/>
              </a:rPr>
              <a:t>Key takeaways</a:t>
            </a:r>
          </a:p>
        </p:txBody>
      </p:sp>
      <p:sp>
        <p:nvSpPr>
          <p:cNvPr id="3" name="Subtitle"/>
          <p:cNvSpPr txBox="1"/>
          <p:nvPr/>
        </p:nvSpPr>
        <p:spPr>
          <a:xfrm>
            <a:off x="548640" y="1207008"/>
            <a:ext cx="11064240" cy="365760"/>
          </a:xfrm>
          <a:prstGeom prst="rect">
            <a:avLst/>
          </a:prstGeom>
          <a:noFill/>
        </p:spPr>
        <p:txBody>
          <a:bodyPr wrap="square" lIns="0" rIns="0" tIns="0" bIns="0" anchor="t">
            <a:spAutoFit/>
          </a:bodyPr>
          <a:lstStyle/>
          <a:p>
            <a:pPr algn="l"/>
            <a:r>
              <a:rPr sz="1500" b="0" i="1">
                <a:solidFill>
                  <a:srgbClr val="64748B"/>
                </a:solidFill>
                <a:latin typeface="Arial"/>
              </a:rPr>
              <a:t>Four ideas to leave with</a:t>
            </a:r>
          </a:p>
        </p:txBody>
      </p:sp>
      <p:sp>
        <p:nvSpPr>
          <p:cNvPr id="4" name="TextBox 3"/>
          <p:cNvSpPr txBox="1"/>
          <p:nvPr/>
        </p:nvSpPr>
        <p:spPr>
          <a:xfrm>
            <a:off x="11155680" y="6400800"/>
            <a:ext cx="548640" cy="228600"/>
          </a:xfrm>
          <a:prstGeom prst="rect">
            <a:avLst/>
          </a:prstGeom>
          <a:noFill/>
        </p:spPr>
        <p:txBody>
          <a:bodyPr wrap="square" lIns="0" rIns="0" tIns="0" bIns="0" anchor="t">
            <a:spAutoFit/>
          </a:bodyPr>
          <a:lstStyle/>
          <a:p>
            <a:pPr algn="r"/>
            <a:r>
              <a:rPr sz="1000" b="1" i="0">
                <a:solidFill>
                  <a:srgbClr val="500000"/>
                </a:solidFill>
                <a:latin typeface="Arial"/>
              </a:rPr>
              <a:t>11</a:t>
            </a:r>
          </a:p>
        </p:txBody>
      </p:sp>
      <p:sp>
        <p:nvSpPr>
          <p:cNvPr id="5" name="Rounded Rectangle 4"/>
          <p:cNvSpPr/>
          <p:nvPr/>
        </p:nvSpPr>
        <p:spPr>
          <a:xfrm>
            <a:off x="54864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0010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500000"/>
                </a:solidFill>
                <a:latin typeface="Cambria Math"/>
              </a:rPr>
              <a:t>E→F</a:t>
            </a:r>
          </a:p>
        </p:txBody>
      </p:sp>
      <p:sp>
        <p:nvSpPr>
          <p:cNvPr id="7" name="TextBox 6"/>
          <p:cNvSpPr txBox="1"/>
          <p:nvPr/>
        </p:nvSpPr>
        <p:spPr>
          <a:xfrm>
            <a:off x="2377440" y="2103120"/>
            <a:ext cx="548640" cy="640080"/>
          </a:xfrm>
          <a:prstGeom prst="rect">
            <a:avLst/>
          </a:prstGeom>
          <a:noFill/>
        </p:spPr>
        <p:txBody>
          <a:bodyPr wrap="square" lIns="0" rIns="0" tIns="0" bIns="0" anchor="t">
            <a:spAutoFit/>
          </a:bodyPr>
          <a:lstStyle/>
          <a:p>
            <a:pPr algn="r"/>
            <a:r>
              <a:rPr sz="4000" b="1" i="0">
                <a:solidFill>
                  <a:srgbClr val="E3C4C4"/>
                </a:solidFill>
                <a:latin typeface="Arial"/>
              </a:rPr>
              <a:t>1</a:t>
            </a:r>
          </a:p>
        </p:txBody>
      </p:sp>
      <p:sp>
        <p:nvSpPr>
          <p:cNvPr id="8" name="TextBox 7"/>
          <p:cNvSpPr txBox="1"/>
          <p:nvPr/>
        </p:nvSpPr>
        <p:spPr>
          <a:xfrm>
            <a:off x="822959" y="3200400"/>
            <a:ext cx="2148840" cy="685800"/>
          </a:xfrm>
          <a:prstGeom prst="rect">
            <a:avLst/>
          </a:prstGeom>
          <a:noFill/>
        </p:spPr>
        <p:txBody>
          <a:bodyPr wrap="square" lIns="0" rIns="0" tIns="0" bIns="0" anchor="b">
            <a:spAutoFit/>
          </a:bodyPr>
          <a:lstStyle/>
          <a:p>
            <a:pPr algn="l"/>
            <a:r>
              <a:rPr sz="1700" b="1" i="0">
                <a:solidFill>
                  <a:srgbClr val="1E293B"/>
                </a:solidFill>
                <a:latin typeface="Arial"/>
              </a:rPr>
              <a:t>One model, all forces</a:t>
            </a:r>
          </a:p>
        </p:txBody>
      </p:sp>
      <p:sp>
        <p:nvSpPr>
          <p:cNvPr id="9" name="TextBox 8"/>
          <p:cNvSpPr txBox="1"/>
          <p:nvPr/>
        </p:nvSpPr>
        <p:spPr>
          <a:xfrm>
            <a:off x="822959" y="4023360"/>
            <a:ext cx="2148840" cy="1005840"/>
          </a:xfrm>
          <a:prstGeom prst="rect">
            <a:avLst/>
          </a:prstGeom>
          <a:noFill/>
        </p:spPr>
        <p:txBody>
          <a:bodyPr wrap="square" lIns="0" rIns="0" tIns="0" bIns="0" anchor="t">
            <a:spAutoFit/>
          </a:bodyPr>
          <a:lstStyle/>
          <a:p>
            <a:pPr algn="l"/>
            <a:r>
              <a:rPr sz="1300" b="0" i="0">
                <a:solidFill>
                  <a:srgbClr val="64748B"/>
                </a:solidFill>
                <a:latin typeface="Arial"/>
              </a:rPr>
              <a:t>Learn the energy; forces and stress come free by differentiation.</a:t>
            </a:r>
          </a:p>
        </p:txBody>
      </p:sp>
      <p:sp>
        <p:nvSpPr>
          <p:cNvPr id="10" name="Rounded Rectangle 9"/>
          <p:cNvSpPr/>
          <p:nvPr/>
        </p:nvSpPr>
        <p:spPr>
          <a:xfrm>
            <a:off x="338328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3474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500000"/>
                </a:solidFill>
                <a:latin typeface="Cambria Math"/>
              </a:rPr>
              <a:t>ν</a:t>
            </a:r>
          </a:p>
        </p:txBody>
      </p:sp>
      <p:sp>
        <p:nvSpPr>
          <p:cNvPr id="12" name="TextBox 11"/>
          <p:cNvSpPr txBox="1"/>
          <p:nvPr/>
        </p:nvSpPr>
        <p:spPr>
          <a:xfrm>
            <a:off x="5212080" y="2103120"/>
            <a:ext cx="548640" cy="640080"/>
          </a:xfrm>
          <a:prstGeom prst="rect">
            <a:avLst/>
          </a:prstGeom>
          <a:noFill/>
        </p:spPr>
        <p:txBody>
          <a:bodyPr wrap="square" lIns="0" rIns="0" tIns="0" bIns="0" anchor="t">
            <a:spAutoFit/>
          </a:bodyPr>
          <a:lstStyle/>
          <a:p>
            <a:pPr algn="r"/>
            <a:r>
              <a:rPr sz="4000" b="1" i="0">
                <a:solidFill>
                  <a:srgbClr val="E3C4C4"/>
                </a:solidFill>
                <a:latin typeface="Arial"/>
              </a:rPr>
              <a:t>2</a:t>
            </a:r>
          </a:p>
        </p:txBody>
      </p:sp>
      <p:sp>
        <p:nvSpPr>
          <p:cNvPr id="13" name="TextBox 12"/>
          <p:cNvSpPr txBox="1"/>
          <p:nvPr/>
        </p:nvSpPr>
        <p:spPr>
          <a:xfrm>
            <a:off x="3657600" y="3200400"/>
            <a:ext cx="2148840" cy="685800"/>
          </a:xfrm>
          <a:prstGeom prst="rect">
            <a:avLst/>
          </a:prstGeom>
          <a:noFill/>
        </p:spPr>
        <p:txBody>
          <a:bodyPr wrap="square" lIns="0" rIns="0" tIns="0" bIns="0" anchor="b">
            <a:spAutoFit/>
          </a:bodyPr>
          <a:lstStyle/>
          <a:p>
            <a:pPr algn="l"/>
            <a:r>
              <a:rPr sz="1700" b="1" i="0">
                <a:solidFill>
                  <a:srgbClr val="1E293B"/>
                </a:solidFill>
                <a:latin typeface="Arial"/>
              </a:rPr>
              <a:t>Physics built in</a:t>
            </a:r>
          </a:p>
        </p:txBody>
      </p:sp>
      <p:sp>
        <p:nvSpPr>
          <p:cNvPr id="14" name="TextBox 13"/>
          <p:cNvSpPr txBox="1"/>
          <p:nvPr/>
        </p:nvSpPr>
        <p:spPr>
          <a:xfrm>
            <a:off x="3657600" y="4023360"/>
            <a:ext cx="2148840" cy="1005840"/>
          </a:xfrm>
          <a:prstGeom prst="rect">
            <a:avLst/>
          </a:prstGeom>
          <a:noFill/>
        </p:spPr>
        <p:txBody>
          <a:bodyPr wrap="square" lIns="0" rIns="0" tIns="0" bIns="0" anchor="t">
            <a:spAutoFit/>
          </a:bodyPr>
          <a:lstStyle/>
          <a:p>
            <a:pPr algn="l"/>
            <a:r>
              <a:rPr sz="1300" b="0" i="0">
                <a:solidFill>
                  <a:srgbClr val="64748B"/>
                </a:solidFill>
                <a:latin typeface="Arial"/>
              </a:rPr>
              <a:t>Equivariant, many-body messages make it accurate and fast.</a:t>
            </a:r>
          </a:p>
        </p:txBody>
      </p:sp>
      <p:sp>
        <p:nvSpPr>
          <p:cNvPr id="15" name="Rounded Rectangle 14"/>
          <p:cNvSpPr/>
          <p:nvPr/>
        </p:nvSpPr>
        <p:spPr>
          <a:xfrm>
            <a:off x="621792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6938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500000"/>
                </a:solidFill>
                <a:latin typeface="Cambria Math"/>
              </a:rPr>
              <a:t>AI</a:t>
            </a:r>
          </a:p>
        </p:txBody>
      </p:sp>
      <p:sp>
        <p:nvSpPr>
          <p:cNvPr id="17" name="TextBox 16"/>
          <p:cNvSpPr txBox="1"/>
          <p:nvPr/>
        </p:nvSpPr>
        <p:spPr>
          <a:xfrm>
            <a:off x="8046720" y="2103120"/>
            <a:ext cx="548640" cy="640080"/>
          </a:xfrm>
          <a:prstGeom prst="rect">
            <a:avLst/>
          </a:prstGeom>
          <a:noFill/>
        </p:spPr>
        <p:txBody>
          <a:bodyPr wrap="square" lIns="0" rIns="0" tIns="0" bIns="0" anchor="t">
            <a:spAutoFit/>
          </a:bodyPr>
          <a:lstStyle/>
          <a:p>
            <a:pPr algn="r"/>
            <a:r>
              <a:rPr sz="4000" b="1" i="0">
                <a:solidFill>
                  <a:srgbClr val="E3C4C4"/>
                </a:solidFill>
                <a:latin typeface="Arial"/>
              </a:rPr>
              <a:t>3</a:t>
            </a:r>
          </a:p>
        </p:txBody>
      </p:sp>
      <p:sp>
        <p:nvSpPr>
          <p:cNvPr id="18" name="TextBox 17"/>
          <p:cNvSpPr txBox="1"/>
          <p:nvPr/>
        </p:nvSpPr>
        <p:spPr>
          <a:xfrm>
            <a:off x="6492240" y="3200400"/>
            <a:ext cx="2148840" cy="685800"/>
          </a:xfrm>
          <a:prstGeom prst="rect">
            <a:avLst/>
          </a:prstGeom>
          <a:noFill/>
        </p:spPr>
        <p:txBody>
          <a:bodyPr wrap="square" lIns="0" rIns="0" tIns="0" bIns="0" anchor="b">
            <a:spAutoFit/>
          </a:bodyPr>
          <a:lstStyle/>
          <a:p>
            <a:pPr algn="l"/>
            <a:r>
              <a:rPr sz="1700" b="1" i="0">
                <a:solidFill>
                  <a:srgbClr val="1E293B"/>
                </a:solidFill>
                <a:latin typeface="Arial"/>
              </a:rPr>
              <a:t>Agents need cheap physics</a:t>
            </a:r>
          </a:p>
        </p:txBody>
      </p:sp>
      <p:sp>
        <p:nvSpPr>
          <p:cNvPr id="19" name="TextBox 18"/>
          <p:cNvSpPr txBox="1"/>
          <p:nvPr/>
        </p:nvSpPr>
        <p:spPr>
          <a:xfrm>
            <a:off x="6492240" y="4023360"/>
            <a:ext cx="2148840" cy="1005840"/>
          </a:xfrm>
          <a:prstGeom prst="rect">
            <a:avLst/>
          </a:prstGeom>
          <a:noFill/>
        </p:spPr>
        <p:txBody>
          <a:bodyPr wrap="square" lIns="0" rIns="0" tIns="0" bIns="0" anchor="t">
            <a:spAutoFit/>
          </a:bodyPr>
          <a:lstStyle/>
          <a:p>
            <a:pPr algn="l"/>
            <a:r>
              <a:rPr sz="1300" b="0" i="0">
                <a:solidFill>
                  <a:srgbClr val="64748B"/>
                </a:solidFill>
                <a:latin typeface="Arial"/>
              </a:rPr>
              <a:t>MACE turns an LLM's hypotheses into numbers in milliseconds.</a:t>
            </a:r>
          </a:p>
        </p:txBody>
      </p:sp>
      <p:sp>
        <p:nvSpPr>
          <p:cNvPr id="20" name="Rounded Rectangle 19"/>
          <p:cNvSpPr/>
          <p:nvPr/>
        </p:nvSpPr>
        <p:spPr>
          <a:xfrm>
            <a:off x="905256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30402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500000"/>
                </a:solidFill>
                <a:latin typeface="Cambria Math"/>
              </a:rPr>
              <a:t>✓</a:t>
            </a:r>
          </a:p>
        </p:txBody>
      </p:sp>
      <p:sp>
        <p:nvSpPr>
          <p:cNvPr id="22" name="TextBox 21"/>
          <p:cNvSpPr txBox="1"/>
          <p:nvPr/>
        </p:nvSpPr>
        <p:spPr>
          <a:xfrm>
            <a:off x="10881360" y="2103120"/>
            <a:ext cx="548640" cy="640080"/>
          </a:xfrm>
          <a:prstGeom prst="rect">
            <a:avLst/>
          </a:prstGeom>
          <a:noFill/>
        </p:spPr>
        <p:txBody>
          <a:bodyPr wrap="square" lIns="0" rIns="0" tIns="0" bIns="0" anchor="t">
            <a:spAutoFit/>
          </a:bodyPr>
          <a:lstStyle/>
          <a:p>
            <a:pPr algn="r"/>
            <a:r>
              <a:rPr sz="4000" b="1" i="0">
                <a:solidFill>
                  <a:srgbClr val="E3C4C4"/>
                </a:solidFill>
                <a:latin typeface="Arial"/>
              </a:rPr>
              <a:t>4</a:t>
            </a:r>
          </a:p>
        </p:txBody>
      </p:sp>
      <p:sp>
        <p:nvSpPr>
          <p:cNvPr id="23" name="TextBox 22"/>
          <p:cNvSpPr txBox="1"/>
          <p:nvPr/>
        </p:nvSpPr>
        <p:spPr>
          <a:xfrm>
            <a:off x="9326880" y="3200400"/>
            <a:ext cx="2148840" cy="685800"/>
          </a:xfrm>
          <a:prstGeom prst="rect">
            <a:avLst/>
          </a:prstGeom>
          <a:noFill/>
        </p:spPr>
        <p:txBody>
          <a:bodyPr wrap="square" lIns="0" rIns="0" tIns="0" bIns="0" anchor="b">
            <a:spAutoFit/>
          </a:bodyPr>
          <a:lstStyle/>
          <a:p>
            <a:pPr algn="l"/>
            <a:r>
              <a:rPr sz="1700" b="1" i="0">
                <a:solidFill>
                  <a:srgbClr val="1E293B"/>
                </a:solidFill>
                <a:latin typeface="Arial"/>
              </a:rPr>
              <a:t>Close the loop</a:t>
            </a:r>
          </a:p>
        </p:txBody>
      </p:sp>
      <p:sp>
        <p:nvSpPr>
          <p:cNvPr id="24" name="TextBox 23"/>
          <p:cNvSpPr txBox="1"/>
          <p:nvPr/>
        </p:nvSpPr>
        <p:spPr>
          <a:xfrm>
            <a:off x="9326880" y="4023360"/>
            <a:ext cx="2148840" cy="1005840"/>
          </a:xfrm>
          <a:prstGeom prst="rect">
            <a:avLst/>
          </a:prstGeom>
          <a:noFill/>
        </p:spPr>
        <p:txBody>
          <a:bodyPr wrap="square" lIns="0" rIns="0" tIns="0" bIns="0" anchor="t">
            <a:spAutoFit/>
          </a:bodyPr>
          <a:lstStyle/>
          <a:p>
            <a:pPr algn="l"/>
            <a:r>
              <a:rPr sz="1300" b="0" i="0">
                <a:solidFill>
                  <a:srgbClr val="64748B"/>
                </a:solidFill>
                <a:latin typeface="Arial"/>
              </a:rPr>
              <a:t>Evolve with MACE, verify winners with DFT and the lab.</a:t>
            </a:r>
          </a:p>
        </p:txBody>
      </p:sp>
      <p:sp>
        <p:nvSpPr>
          <p:cNvPr id="25" name="TextBox 24"/>
          <p:cNvSpPr txBox="1"/>
          <p:nvPr/>
        </p:nvSpPr>
        <p:spPr>
          <a:xfrm>
            <a:off x="548640" y="5440680"/>
            <a:ext cx="10972800" cy="731520"/>
          </a:xfrm>
          <a:prstGeom prst="rect">
            <a:avLst/>
          </a:prstGeom>
          <a:noFill/>
        </p:spPr>
        <p:txBody>
          <a:bodyPr wrap="square" lIns="0" rIns="0" tIns="0" bIns="0" anchor="t">
            <a:spAutoFit/>
          </a:bodyPr>
          <a:lstStyle/>
          <a:p>
            <a:pPr algn="l"/>
            <a:r>
              <a:rPr sz="3600" b="1" i="0">
                <a:solidFill>
                  <a:srgbClr val="500000"/>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